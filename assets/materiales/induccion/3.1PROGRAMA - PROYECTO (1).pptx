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9" roundtripDataSignature="AMtx7mhScOkYzCZUBYgeFLYbG9yO/Rgm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61E628-AFD9-4AFC-8620-7545FEEFD10A}">
  <a:tblStyle styleId="{1661E628-AFD9-4AFC-8620-7545FEEFD10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fill>
          <a:solidFill>
            <a:srgbClr val="DEE7D0"/>
          </a:solidFill>
        </a:fill>
      </a:tcStyle>
    </a:band1H>
    <a:band2H>
      <a:tcTxStyle/>
    </a:band2H>
    <a:band1V>
      <a:tcTxStyle/>
      <a:tcStyle>
        <a:fill>
          <a:solidFill>
            <a:srgbClr val="DEE7D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B8F483E8-2A51-474B-BFE5-9ED4FC13F432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>
  <p:cSld name="Dos objeto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7"/>
          <p:cNvPicPr preferRelativeResize="0"/>
          <p:nvPr/>
        </p:nvPicPr>
        <p:blipFill rotWithShape="1">
          <a:blip r:embed="rId2">
            <a:alphaModFix/>
          </a:blip>
          <a:srcRect b="81517" l="88730" r="0" t="0"/>
          <a:stretch/>
        </p:blipFill>
        <p:spPr>
          <a:xfrm>
            <a:off x="8113486" y="0"/>
            <a:ext cx="1030514" cy="950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>
  <p:cSld name="Sólo el título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1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" name="Google Shape;28;p7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9" name="Google Shape;29;p7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6" name="Google Shape;36;p7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3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hyperlink" Target="https://www.sena.edu.co/es-co/trabajo/Paginas/observatorioLaboral.aspx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7.png"/><Relationship Id="rId4" Type="http://schemas.openxmlformats.org/officeDocument/2006/relationships/hyperlink" Target="https://www.sena.edu.co/es-co/comunidades/egresados/Paginas/default.aspx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Relationship Id="rId4" Type="http://schemas.openxmlformats.org/officeDocument/2006/relationships/hyperlink" Target="https://www.sena.edu.co/es-co/sena/Paginas/internacionalizacion.aspx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Relationship Id="rId4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9.png"/><Relationship Id="rId4" Type="http://schemas.openxmlformats.org/officeDocument/2006/relationships/image" Target="../media/image5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4.png"/><Relationship Id="rId4" Type="http://schemas.openxmlformats.org/officeDocument/2006/relationships/image" Target="../media/image7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7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4.png"/><Relationship Id="rId4" Type="http://schemas.openxmlformats.org/officeDocument/2006/relationships/image" Target="../media/image6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7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1.png"/><Relationship Id="rId4" Type="http://schemas.openxmlformats.org/officeDocument/2006/relationships/image" Target="../media/image7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8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5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/>
        </p:nvSpPr>
        <p:spPr>
          <a:xfrm>
            <a:off x="3547640" y="984773"/>
            <a:ext cx="4572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PROGRAMA DE </a:t>
            </a:r>
            <a:r>
              <a:rPr b="1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FORMACIÓN</a:t>
            </a:r>
            <a:r>
              <a:rPr b="1" i="0" lang="es-MX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Y PROYECTO FORMATIVO</a:t>
            </a:r>
            <a:endParaRPr b="1" i="0" sz="36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Yolanda Hidrobo – Centro de Gestion administrativa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7372" y="1975108"/>
            <a:ext cx="2986268" cy="200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1977645" y="917121"/>
            <a:ext cx="6179400" cy="26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TEMAS A TRABAJAR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AutoNum type="arabicPeriod"/>
            </a:pPr>
            <a:r>
              <a:rPr b="0" i="0" lang="es-MX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Programa de formación.</a:t>
            </a:r>
            <a:endParaRPr/>
          </a:p>
          <a:p>
            <a:pPr indent="-514350" lvl="0" marL="514350" marR="0" rtl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AutoNum type="arabicPeriod"/>
            </a:pPr>
            <a:r>
              <a:rPr b="0" i="0" lang="es-MX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Proyecto Formativo.</a:t>
            </a:r>
            <a:endParaRPr/>
          </a:p>
          <a:p>
            <a:pPr indent="-514350" lvl="0" marL="514350" marR="0" rtl="0" algn="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AutoNum type="arabicPeriod"/>
            </a:pPr>
            <a:r>
              <a:rPr b="0" i="0" lang="es-MX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Portafolio del Aprendiz</a:t>
            </a:r>
            <a:endParaRPr/>
          </a:p>
        </p:txBody>
      </p:sp>
      <p:pic>
        <p:nvPicPr>
          <p:cNvPr descr="Multimedia Production SENA: Mis deberes y derechos como Aprendiz SENA" id="62" name="Google Shape;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9236" y="1687433"/>
            <a:ext cx="211455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/>
        </p:nvSpPr>
        <p:spPr>
          <a:xfrm>
            <a:off x="509443" y="221166"/>
            <a:ext cx="7697008" cy="50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QUE OPINAS…</a:t>
            </a:r>
            <a:endParaRPr/>
          </a:p>
        </p:txBody>
      </p:sp>
      <p:pic>
        <p:nvPicPr>
          <p:cNvPr descr="Citas Para Reflexionar | Frases de educacion, Jean piaget, Feliz dia del  maestro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4033" y="727458"/>
            <a:ext cx="4989592" cy="4026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/>
        </p:nvSpPr>
        <p:spPr>
          <a:xfrm>
            <a:off x="862031" y="1484723"/>
            <a:ext cx="76508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4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PROGRAMA DE FORMACIÓN</a:t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580355" y="2539984"/>
            <a:ext cx="4932541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 investigación en el programa de Formación Complementaria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723" y="2871523"/>
            <a:ext cx="27051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5"/>
          <p:cNvPicPr preferRelativeResize="0"/>
          <p:nvPr/>
        </p:nvPicPr>
        <p:blipFill rotWithShape="1">
          <a:blip r:embed="rId3">
            <a:alphaModFix/>
          </a:blip>
          <a:srcRect b="38805" l="28371" r="8721" t="27276"/>
          <a:stretch/>
        </p:blipFill>
        <p:spPr>
          <a:xfrm>
            <a:off x="276446" y="138222"/>
            <a:ext cx="8591107" cy="2541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/>
          <p:cNvPicPr preferRelativeResize="0"/>
          <p:nvPr/>
        </p:nvPicPr>
        <p:blipFill rotWithShape="1">
          <a:blip r:embed="rId4">
            <a:alphaModFix/>
          </a:blip>
          <a:srcRect b="44235" l="28837" r="10232" t="27688"/>
          <a:stretch/>
        </p:blipFill>
        <p:spPr>
          <a:xfrm>
            <a:off x="276446" y="2590894"/>
            <a:ext cx="8591107" cy="2225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509443" y="175970"/>
            <a:ext cx="7697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FORMACIÓN</a:t>
            </a:r>
            <a:r>
              <a:rPr b="1" i="0" lang="es-MX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PROFESIONAL INTEGRAL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Proceso educativo teórico práctico de carácter integral, orientado al desarrollo de conocimientos técnicos, tecnológicos y de actitudes y valores para la convivencia social, que le permiten a la persona actuar crítica y creativamente en el mundo del trabajo y de la vida.</a:t>
            </a:r>
            <a:endParaRPr/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637" y="2670076"/>
            <a:ext cx="5800725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4987" y="357187"/>
            <a:ext cx="5534025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8"/>
          <p:cNvPicPr preferRelativeResize="0"/>
          <p:nvPr/>
        </p:nvPicPr>
        <p:blipFill rotWithShape="1">
          <a:blip r:embed="rId3">
            <a:alphaModFix/>
          </a:blip>
          <a:srcRect b="14193" l="15814" r="20581" t="16466"/>
          <a:stretch/>
        </p:blipFill>
        <p:spPr>
          <a:xfrm>
            <a:off x="1896763" y="1341360"/>
            <a:ext cx="5949972" cy="36854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 txBox="1"/>
          <p:nvPr/>
        </p:nvSpPr>
        <p:spPr>
          <a:xfrm>
            <a:off x="445625" y="122445"/>
            <a:ext cx="7845759" cy="11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PROGRAMA DE FORMACIÓN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1. Información Básica del programa</a:t>
            </a:r>
            <a:endParaRPr b="0" i="0" sz="2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290384" y="1365455"/>
            <a:ext cx="1296365" cy="830997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del Programa de Formación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/>
        </p:nvSpPr>
        <p:spPr>
          <a:xfrm>
            <a:off x="290383" y="2431259"/>
            <a:ext cx="1296365" cy="830997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Código del Programa de Formación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 txBox="1"/>
          <p:nvPr/>
        </p:nvSpPr>
        <p:spPr>
          <a:xfrm>
            <a:off x="306808" y="3464705"/>
            <a:ext cx="1296365" cy="830997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Versión del Programa de Formación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 txBox="1"/>
          <p:nvPr/>
        </p:nvSpPr>
        <p:spPr>
          <a:xfrm>
            <a:off x="7387542" y="3059419"/>
            <a:ext cx="1459426" cy="92333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Duración del Programa de Formación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8"/>
          <p:cNvCxnSpPr>
            <a:stCxn id="99" idx="3"/>
          </p:cNvCxnSpPr>
          <p:nvPr/>
        </p:nvCxnSpPr>
        <p:spPr>
          <a:xfrm>
            <a:off x="1586749" y="1780954"/>
            <a:ext cx="2676900" cy="1166100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" name="Google Shape;104;p8"/>
          <p:cNvCxnSpPr/>
          <p:nvPr/>
        </p:nvCxnSpPr>
        <p:spPr>
          <a:xfrm>
            <a:off x="1586748" y="2571750"/>
            <a:ext cx="554568" cy="345253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5" name="Google Shape;105;p8"/>
          <p:cNvCxnSpPr/>
          <p:nvPr/>
        </p:nvCxnSpPr>
        <p:spPr>
          <a:xfrm flipH="1" rot="10800000">
            <a:off x="1586748" y="3262256"/>
            <a:ext cx="1978255" cy="517656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" name="Google Shape;106;p8"/>
          <p:cNvCxnSpPr/>
          <p:nvPr/>
        </p:nvCxnSpPr>
        <p:spPr>
          <a:xfrm flipH="1">
            <a:off x="5677786" y="3751916"/>
            <a:ext cx="1709756" cy="461665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387" y="1121839"/>
            <a:ext cx="7515225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284" y="2674291"/>
            <a:ext cx="7812328" cy="1352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9"/>
          <p:cNvSpPr/>
          <p:nvPr/>
        </p:nvSpPr>
        <p:spPr>
          <a:xfrm>
            <a:off x="3287210" y="1685925"/>
            <a:ext cx="659757" cy="98836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4864" y="1163759"/>
            <a:ext cx="5826165" cy="207786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 txBox="1"/>
          <p:nvPr/>
        </p:nvSpPr>
        <p:spPr>
          <a:xfrm>
            <a:off x="509443" y="175970"/>
            <a:ext cx="769700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 programa cuenta con unos contenidos curriculares en donde se reflejan las competencias , su duración y los resultados a orientar. </a:t>
            </a:r>
            <a:endParaRPr/>
          </a:p>
        </p:txBody>
      </p:sp>
      <p:pic>
        <p:nvPicPr>
          <p:cNvPr id="120" name="Google Shape;12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912" y="3459970"/>
            <a:ext cx="6753199" cy="13482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0"/>
          <p:cNvCxnSpPr/>
          <p:nvPr/>
        </p:nvCxnSpPr>
        <p:spPr>
          <a:xfrm flipH="1">
            <a:off x="2361235" y="2708476"/>
            <a:ext cx="972274" cy="751494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/>
        </p:nvSpPr>
        <p:spPr>
          <a:xfrm>
            <a:off x="509443" y="175970"/>
            <a:ext cx="769700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la vez cada competencia y resultado de aprendizaje tiene unos conocimientos:</a:t>
            </a:r>
            <a:endParaRPr/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112" y="1485900"/>
            <a:ext cx="88677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995" y="3112239"/>
            <a:ext cx="7021904" cy="11036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1"/>
          <p:cNvCxnSpPr/>
          <p:nvPr/>
        </p:nvCxnSpPr>
        <p:spPr>
          <a:xfrm>
            <a:off x="846995" y="2028825"/>
            <a:ext cx="1722585" cy="1212086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471" y="854812"/>
            <a:ext cx="8657863" cy="856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973" y="2735027"/>
            <a:ext cx="7067773" cy="13867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2"/>
          <p:cNvCxnSpPr/>
          <p:nvPr/>
        </p:nvCxnSpPr>
        <p:spPr>
          <a:xfrm>
            <a:off x="849973" y="1196387"/>
            <a:ext cx="1557561" cy="1538640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/>
        </p:nvSpPr>
        <p:spPr>
          <a:xfrm>
            <a:off x="509443" y="175970"/>
            <a:ext cx="769700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por ultimo cada competencia y resultados de aprendizaje tiene unos criterios de evaluación:</a:t>
            </a:r>
            <a:endParaRPr/>
          </a:p>
        </p:txBody>
      </p:sp>
      <p:pic>
        <p:nvPicPr>
          <p:cNvPr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48" y="1340147"/>
            <a:ext cx="8480264" cy="1009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572" y="2667715"/>
            <a:ext cx="6852213" cy="196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3"/>
          <p:cNvCxnSpPr/>
          <p:nvPr/>
        </p:nvCxnSpPr>
        <p:spPr>
          <a:xfrm flipH="1">
            <a:off x="2407534" y="1736203"/>
            <a:ext cx="856527" cy="998824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/>
        </p:nvSpPr>
        <p:spPr>
          <a:xfrm>
            <a:off x="862031" y="1484723"/>
            <a:ext cx="76508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ACTIVIDAD 1.</a:t>
            </a:r>
            <a:endParaRPr/>
          </a:p>
        </p:txBody>
      </p:sp>
      <p:sp>
        <p:nvSpPr>
          <p:cNvPr id="150" name="Google Shape;150;p14"/>
          <p:cNvSpPr/>
          <p:nvPr/>
        </p:nvSpPr>
        <p:spPr>
          <a:xfrm flipH="1" rot="10800000">
            <a:off x="5387546" y="2434281"/>
            <a:ext cx="3125350" cy="105703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 pilares para que tus alumnos sean aprendices ágiles - Escuela de  experiencias" id="151" name="Google Shape;1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185" y="1301231"/>
            <a:ext cx="4743602" cy="237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/>
        </p:nvSpPr>
        <p:spPr>
          <a:xfrm>
            <a:off x="509443" y="261769"/>
            <a:ext cx="79748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Actividad 1. Conociendo mi programa de formación.</a:t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Ya conociendo que es un Programa de formación y sus componentes lo invito a que lea y analice su programa de formación que se matriculo y llene de forma concreta y critica la siguiente información:</a:t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Nombre del Programa de Formación: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Código del Programa: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Versión: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Nivel de Formación: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Duración etapa Lectiva: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Duración etapa Productiva: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Duración total del programa: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16"/>
          <p:cNvGraphicFramePr/>
          <p:nvPr/>
        </p:nvGraphicFramePr>
        <p:xfrm>
          <a:off x="572947" y="1179288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{1661E628-AFD9-4AFC-8620-7545FEEFD10A}</a:tableStyleId>
              </a:tblPr>
              <a:tblGrid>
                <a:gridCol w="1598950"/>
                <a:gridCol w="1599775"/>
                <a:gridCol w="1599775"/>
                <a:gridCol w="1599775"/>
                <a:gridCol w="1599775"/>
              </a:tblGrid>
              <a:tr h="86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COMPETENCIA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RESULTADO DE APRENDIZAJE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CONOCIMIENTOS DE CONCEPTO ¿QUE DEBO SABER?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CONOCIMIENTOS PROCESO ¿Qué DEBO HACER?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CRITERIOS DE EVALUACIÓN. ¿Qué ME VAN A EVALUAR?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322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000" u="none" cap="none" strike="noStrike"/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/>
        </p:nvSpPr>
        <p:spPr>
          <a:xfrm>
            <a:off x="862031" y="1484723"/>
            <a:ext cx="76508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PROYECTO FORMATIVO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3580355" y="2539984"/>
            <a:ext cx="4932541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prendiz le ganó tutela al SENA en el Guaviare: Juez de Familia falló a su  favor | Diario del Cauca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2118" y="2676685"/>
            <a:ext cx="4983078" cy="1618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34255" l="28489" r="8604" t="26036"/>
          <a:stretch/>
        </p:blipFill>
        <p:spPr>
          <a:xfrm>
            <a:off x="503168" y="1106489"/>
            <a:ext cx="8299309" cy="2945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509443" y="384314"/>
            <a:ext cx="7697008" cy="11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Observa el siguiente video que nos habla sobre el Proyecto Formativo: </a:t>
            </a:r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527384"/>
            <a:ext cx="6096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930" y="601392"/>
            <a:ext cx="7376495" cy="4144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329878" y="98323"/>
            <a:ext cx="7845759" cy="1143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PROYECTO FORMATIVO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1. Información Básica del proyecto formativo</a:t>
            </a: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16057" l="2152" r="5740" t="33478"/>
          <a:stretch/>
        </p:blipFill>
        <p:spPr>
          <a:xfrm>
            <a:off x="329878" y="1241393"/>
            <a:ext cx="8422285" cy="259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1433663" y="3606683"/>
            <a:ext cx="6741974" cy="147732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este espacio encontramos los códigos del proyecto y del programa.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Centro formación y regional a que pertenece el proyecto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 del proyecto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 asociado al proyecto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Tiempo duración del programa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/>
        </p:nvSpPr>
        <p:spPr>
          <a:xfrm>
            <a:off x="520861" y="87979"/>
            <a:ext cx="7153154" cy="2585323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ESTRUCTURA DEL PROYECTO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proyecto cuenta con una estructura en la cual se encuentra: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Justificación del proyecto.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generales y específicos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Alcances del proyecto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Productos o resultados del proyecto.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2"/>
          <p:cNvPicPr preferRelativeResize="0"/>
          <p:nvPr/>
        </p:nvPicPr>
        <p:blipFill rotWithShape="1">
          <a:blip r:embed="rId3">
            <a:alphaModFix/>
          </a:blip>
          <a:srcRect b="11712" l="2558" r="5695" t="34928"/>
          <a:stretch/>
        </p:blipFill>
        <p:spPr>
          <a:xfrm>
            <a:off x="377388" y="2400299"/>
            <a:ext cx="8389223" cy="274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Google Shape;202;p23"/>
          <p:cNvGraphicFramePr/>
          <p:nvPr/>
        </p:nvGraphicFramePr>
        <p:xfrm>
          <a:off x="536943" y="723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{B8F483E8-2A51-474B-BFE5-9ED4FC13F432}</a:tableStyleId>
              </a:tblPr>
              <a:tblGrid>
                <a:gridCol w="8070125"/>
              </a:tblGrid>
              <a:tr h="43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/>
                        <a:t>2.3 Objetivo general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963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600" u="none" cap="none" strike="noStrike"/>
                        <a:t>Estructurar las primeras etapas de un proceso de restauración ecológica activa que promuevan la recuperación de un ecosistema en el Centro Pecuario y Agroempresarial Puerto Boyacá </a:t>
                      </a:r>
                      <a:endParaRPr b="1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30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800" u="none" cap="none" strike="noStrike"/>
                        <a:t>2.4 Objetivos específicos: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55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u="none" cap="none" strike="noStrike"/>
                        <a:t>Realizar el diagnóstico ambiental del área a intervenir, según protocolos técnicos establecidos dentro de la restauración ecológica activa.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55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u="none" cap="none" strike="noStrike"/>
                        <a:t>Proponer las metodologias dentro de la restauración ecológica activa de acuerdo con la normatividad vigente.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55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u="none" cap="none" strike="noStrike"/>
                        <a:t>Ejecutar planes de seguimiento y monitoreo según la restauración ecológica activa de acuerdo y normatividad vigente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554325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u="none" cap="none" strike="noStrike"/>
                        <a:t>Evaluar y socializar los resultados de los planes de seguimiento y monitoreo de la restauración ecológica activa de acuerdo con la normatividad vigente.</a:t>
                      </a:r>
                      <a:endParaRPr b="0" i="0" sz="16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24"/>
          <p:cNvGraphicFramePr/>
          <p:nvPr/>
        </p:nvGraphicFramePr>
        <p:xfrm>
          <a:off x="404037" y="882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{B8F483E8-2A51-474B-BFE5-9ED4FC13F432}</a:tableStyleId>
              </a:tblPr>
              <a:tblGrid>
                <a:gridCol w="8335925"/>
              </a:tblGrid>
              <a:tr h="33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2000" u="none" cap="none" strike="noStrike"/>
                        <a:t>2.5.4. Productos o resultados del proyecto:</a:t>
                      </a:r>
                      <a:endParaRPr b="1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666650">
                <a:tc>
                  <a:txBody>
                    <a:bodyPr/>
                    <a:lstStyle/>
                    <a:p>
                      <a:pPr indent="0" lvl="0" marL="0" marR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000" u="none" cap="none" strike="noStrike"/>
                        <a:t>R1: Informe técnico del Diagnóstico Ambiental (biofísica, socioeconómica y oferta-demanda, georeferenciación por cartografía y biogeografía).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996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000" u="none" cap="none" strike="noStrike"/>
                        <a:t>R2: Esquemas de metodologías dentro de la restauración ecológica activa. (Listados de especies con estado de conservación, fichas descriptivas (agua, aire y suelo) y taxonómicas (flora y fauna).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66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000" u="none" cap="none" strike="noStrike"/>
                        <a:t>R3: Informe del seguimiento y monitoreo del área a intervenir con restauración ecológica activa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66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000" u="none" cap="none" strike="noStrike"/>
                        <a:t>R4: Documentos de validación del modelo metodológico del área de restauración ecológica activa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  <a:tr h="66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000" u="none" cap="none" strike="noStrike"/>
                        <a:t>R5. Cartilla didáctica de herramientas metodológicas de restauración ecológica activa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675" marB="0" marR="5675" marL="56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/>
        </p:nvSpPr>
        <p:spPr>
          <a:xfrm>
            <a:off x="370390" y="3146106"/>
            <a:ext cx="1689903" cy="147732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proyecto formativo consta de unas fases para su ejecución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30075"/>
            <a:ext cx="9144000" cy="1409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2586942" y="3146106"/>
            <a:ext cx="1689903" cy="1754326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Cada fase tiene una actividad de proyecto que esta ligada a los resultados de aprendizaje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4803494" y="2938555"/>
            <a:ext cx="4074288" cy="2031325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resultados de aprendizaje pueden ser: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Componente técnico: son los resultados de la parte técnica.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AutoNum type="arabicPeriod"/>
            </a:pPr>
            <a:r>
              <a:rPr lang="es-MX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Componente social: que están relacionados a los resultados transversales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5"/>
          <p:cNvSpPr txBox="1"/>
          <p:nvPr/>
        </p:nvSpPr>
        <p:spPr>
          <a:xfrm>
            <a:off x="329878" y="98323"/>
            <a:ext cx="7845759" cy="589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3. Planeación del Proyecto</a:t>
            </a:r>
            <a:endParaRPr/>
          </a:p>
        </p:txBody>
      </p:sp>
      <p:cxnSp>
        <p:nvCxnSpPr>
          <p:cNvPr id="217" name="Google Shape;217;p25"/>
          <p:cNvCxnSpPr/>
          <p:nvPr/>
        </p:nvCxnSpPr>
        <p:spPr>
          <a:xfrm rot="10800000">
            <a:off x="868101" y="2571750"/>
            <a:ext cx="775504" cy="574357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" name="Google Shape;218;p25"/>
          <p:cNvCxnSpPr/>
          <p:nvPr/>
        </p:nvCxnSpPr>
        <p:spPr>
          <a:xfrm rot="10800000">
            <a:off x="2448045" y="2560175"/>
            <a:ext cx="775504" cy="574357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25"/>
          <p:cNvCxnSpPr/>
          <p:nvPr/>
        </p:nvCxnSpPr>
        <p:spPr>
          <a:xfrm rot="10800000">
            <a:off x="4252757" y="2508881"/>
            <a:ext cx="767762" cy="1154022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25"/>
          <p:cNvCxnSpPr/>
          <p:nvPr/>
        </p:nvCxnSpPr>
        <p:spPr>
          <a:xfrm flipH="1" rot="10800000">
            <a:off x="5066818" y="2436540"/>
            <a:ext cx="750906" cy="1769415"/>
          </a:xfrm>
          <a:prstGeom prst="straightConnector1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6"/>
          <p:cNvPicPr preferRelativeResize="0"/>
          <p:nvPr/>
        </p:nvPicPr>
        <p:blipFill rotWithShape="1">
          <a:blip r:embed="rId3">
            <a:alphaModFix/>
          </a:blip>
          <a:srcRect b="46251" l="28372" r="9882" t="25001"/>
          <a:stretch/>
        </p:blipFill>
        <p:spPr>
          <a:xfrm>
            <a:off x="244548" y="1552355"/>
            <a:ext cx="8367283" cy="2190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/>
        </p:nvSpPr>
        <p:spPr>
          <a:xfrm>
            <a:off x="329878" y="98323"/>
            <a:ext cx="7845759" cy="589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 fases del proyecto son:</a:t>
            </a:r>
            <a:endParaRPr i="0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529" y="839525"/>
            <a:ext cx="6240528" cy="4019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23761"/>
            <a:ext cx="9144000" cy="155937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 txBox="1"/>
          <p:nvPr/>
        </p:nvSpPr>
        <p:spPr>
          <a:xfrm>
            <a:off x="329877" y="260369"/>
            <a:ext cx="799232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4. Recursos estimados para la ejecución del proyecto: Cada proyecto formativo cuenta con unos materiales de formación que pueden ser: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Equipos y Herramienta.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Materiales de formación consumibles.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Talento humano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Ambientes de aprendizaje.</a:t>
            </a:r>
            <a:endParaRPr i="0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30" y="3126556"/>
            <a:ext cx="8623139" cy="158433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 txBox="1"/>
          <p:nvPr/>
        </p:nvSpPr>
        <p:spPr>
          <a:xfrm>
            <a:off x="329877" y="260369"/>
            <a:ext cx="799232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5. Rubro presupuestal: Cada proyecto formativo cuenta con un rubro presupuestal el cual esta asignado para: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Equipos 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Herramienta. 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Talento humano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Materiales de formación consumibles.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/>
        </p:nvSpPr>
        <p:spPr>
          <a:xfrm>
            <a:off x="329877" y="260369"/>
            <a:ext cx="799232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6. Equipo Ejecutor. El proyecto cuenta con un equipo de profesionales e instructores que elaboran el proyecto de acuerdo a las </a:t>
            </a: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necesidades del a región.</a:t>
            </a:r>
            <a:endParaRPr/>
          </a:p>
        </p:txBody>
      </p:sp>
      <p:pic>
        <p:nvPicPr>
          <p:cNvPr id="249" name="Google Shape;2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85414"/>
            <a:ext cx="9144000" cy="1504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1"/>
          <p:cNvPicPr preferRelativeResize="0"/>
          <p:nvPr/>
        </p:nvPicPr>
        <p:blipFill rotWithShape="1">
          <a:blip r:embed="rId3">
            <a:alphaModFix/>
          </a:blip>
          <a:srcRect b="19158" l="12792" r="15463" t="17762"/>
          <a:stretch/>
        </p:blipFill>
        <p:spPr>
          <a:xfrm>
            <a:off x="517525" y="393403"/>
            <a:ext cx="8108949" cy="400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1"/>
          <p:cNvSpPr txBox="1"/>
          <p:nvPr/>
        </p:nvSpPr>
        <p:spPr>
          <a:xfrm>
            <a:off x="1244009" y="4536190"/>
            <a:ext cx="75278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https://www.sena.edu.co/es-co/trabajo/Paginas/observatorioLaboral.aspx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b="50000" l="13023" r="14884" t="15073"/>
          <a:stretch/>
        </p:blipFill>
        <p:spPr>
          <a:xfrm>
            <a:off x="170123" y="1318437"/>
            <a:ext cx="8587898" cy="2339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3"/>
          <p:cNvPicPr preferRelativeResize="0"/>
          <p:nvPr/>
        </p:nvPicPr>
        <p:blipFill rotWithShape="1">
          <a:blip r:embed="rId3">
            <a:alphaModFix/>
          </a:blip>
          <a:srcRect b="40874" l="12674" r="14417" t="23140"/>
          <a:stretch/>
        </p:blipFill>
        <p:spPr>
          <a:xfrm>
            <a:off x="0" y="765544"/>
            <a:ext cx="8850507" cy="245612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3"/>
          <p:cNvSpPr txBox="1"/>
          <p:nvPr/>
        </p:nvSpPr>
        <p:spPr>
          <a:xfrm>
            <a:off x="606056" y="3349256"/>
            <a:ext cx="7963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https://www.sena.edu.co/es-co/comunidades/egresados/Paginas/default.aspx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4"/>
          <p:cNvPicPr preferRelativeResize="0"/>
          <p:nvPr/>
        </p:nvPicPr>
        <p:blipFill rotWithShape="1">
          <a:blip r:embed="rId3">
            <a:alphaModFix/>
          </a:blip>
          <a:srcRect b="34048" l="12558" r="13953" t="33274"/>
          <a:stretch/>
        </p:blipFill>
        <p:spPr>
          <a:xfrm>
            <a:off x="361506" y="701748"/>
            <a:ext cx="8420988" cy="210524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1084520" y="3196487"/>
            <a:ext cx="7325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https://www.sena.edu.co/es-co/sena/Paginas/internacionalizacion.aspx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5"/>
          <p:cNvPicPr preferRelativeResize="0"/>
          <p:nvPr/>
        </p:nvPicPr>
        <p:blipFill rotWithShape="1">
          <a:blip r:embed="rId3">
            <a:alphaModFix/>
          </a:blip>
          <a:srcRect b="20605" l="66758" r="5697" t="15901"/>
          <a:stretch/>
        </p:blipFill>
        <p:spPr>
          <a:xfrm>
            <a:off x="6379535" y="1136917"/>
            <a:ext cx="2658787" cy="3445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5"/>
          <p:cNvPicPr preferRelativeResize="0"/>
          <p:nvPr/>
        </p:nvPicPr>
        <p:blipFill rotWithShape="1">
          <a:blip r:embed="rId3">
            <a:alphaModFix/>
          </a:blip>
          <a:srcRect b="20605" l="21162" r="36184" t="15901"/>
          <a:stretch/>
        </p:blipFill>
        <p:spPr>
          <a:xfrm>
            <a:off x="0" y="0"/>
            <a:ext cx="6117589" cy="5119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6"/>
          <p:cNvPicPr preferRelativeResize="0"/>
          <p:nvPr/>
        </p:nvPicPr>
        <p:blipFill rotWithShape="1">
          <a:blip r:embed="rId3">
            <a:alphaModFix/>
          </a:blip>
          <a:srcRect b="21641" l="11627" r="14417" t="15486"/>
          <a:stretch/>
        </p:blipFill>
        <p:spPr>
          <a:xfrm>
            <a:off x="148856" y="584791"/>
            <a:ext cx="8608591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7"/>
          <p:cNvPicPr preferRelativeResize="0"/>
          <p:nvPr/>
        </p:nvPicPr>
        <p:blipFill rotWithShape="1">
          <a:blip r:embed="rId3">
            <a:alphaModFix/>
          </a:blip>
          <a:srcRect b="20191" l="13371" r="12790" t="15694"/>
          <a:stretch/>
        </p:blipFill>
        <p:spPr>
          <a:xfrm>
            <a:off x="172522" y="520995"/>
            <a:ext cx="8798956" cy="4295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8"/>
          <p:cNvPicPr preferRelativeResize="0"/>
          <p:nvPr/>
        </p:nvPicPr>
        <p:blipFill rotWithShape="1">
          <a:blip r:embed="rId3">
            <a:alphaModFix/>
          </a:blip>
          <a:srcRect b="20606" l="11395" r="12326" t="18177"/>
          <a:stretch/>
        </p:blipFill>
        <p:spPr>
          <a:xfrm>
            <a:off x="127590" y="641940"/>
            <a:ext cx="8553751" cy="3859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39"/>
          <p:cNvPicPr preferRelativeResize="0"/>
          <p:nvPr/>
        </p:nvPicPr>
        <p:blipFill rotWithShape="1">
          <a:blip r:embed="rId3">
            <a:alphaModFix/>
          </a:blip>
          <a:srcRect b="18744" l="12325" r="14069" t="16728"/>
          <a:stretch/>
        </p:blipFill>
        <p:spPr>
          <a:xfrm>
            <a:off x="0" y="350873"/>
            <a:ext cx="8963247" cy="441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0"/>
          <p:cNvPicPr preferRelativeResize="0"/>
          <p:nvPr/>
        </p:nvPicPr>
        <p:blipFill rotWithShape="1">
          <a:blip r:embed="rId3">
            <a:alphaModFix/>
          </a:blip>
          <a:srcRect b="30763" l="11861" r="13371" t="24977"/>
          <a:stretch/>
        </p:blipFill>
        <p:spPr>
          <a:xfrm>
            <a:off x="467833" y="1084521"/>
            <a:ext cx="8370206" cy="2785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1"/>
          <p:cNvPicPr preferRelativeResize="0"/>
          <p:nvPr/>
        </p:nvPicPr>
        <p:blipFill rotWithShape="1">
          <a:blip r:embed="rId3">
            <a:alphaModFix/>
          </a:blip>
          <a:srcRect b="24535" l="11628" r="13836" t="36376"/>
          <a:stretch/>
        </p:blipFill>
        <p:spPr>
          <a:xfrm>
            <a:off x="62161" y="1306474"/>
            <a:ext cx="9019678" cy="2659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2"/>
          <p:cNvPicPr preferRelativeResize="0"/>
          <p:nvPr/>
        </p:nvPicPr>
        <p:blipFill rotWithShape="1">
          <a:blip r:embed="rId3">
            <a:alphaModFix/>
          </a:blip>
          <a:srcRect b="25982" l="11744" r="16859" t="28722"/>
          <a:stretch/>
        </p:blipFill>
        <p:spPr>
          <a:xfrm>
            <a:off x="106325" y="1444699"/>
            <a:ext cx="8708248" cy="3106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2"/>
          <p:cNvPicPr preferRelativeResize="0"/>
          <p:nvPr/>
        </p:nvPicPr>
        <p:blipFill rotWithShape="1">
          <a:blip r:embed="rId3">
            <a:alphaModFix/>
          </a:blip>
          <a:srcRect b="72794" l="11744" r="16859" t="18175"/>
          <a:stretch/>
        </p:blipFill>
        <p:spPr>
          <a:xfrm>
            <a:off x="620233" y="205564"/>
            <a:ext cx="6528391" cy="464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3"/>
          <p:cNvPicPr preferRelativeResize="0"/>
          <p:nvPr/>
        </p:nvPicPr>
        <p:blipFill rotWithShape="1">
          <a:blip r:embed="rId3">
            <a:alphaModFix/>
          </a:blip>
          <a:srcRect b="72794" l="11744" r="16859" t="18175"/>
          <a:stretch/>
        </p:blipFill>
        <p:spPr>
          <a:xfrm>
            <a:off x="620233" y="205564"/>
            <a:ext cx="6528391" cy="464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3"/>
          <p:cNvPicPr preferRelativeResize="0"/>
          <p:nvPr/>
        </p:nvPicPr>
        <p:blipFill rotWithShape="1">
          <a:blip r:embed="rId4">
            <a:alphaModFix/>
          </a:blip>
          <a:srcRect b="27843" l="18140" r="20349" t="32342"/>
          <a:stretch/>
        </p:blipFill>
        <p:spPr>
          <a:xfrm>
            <a:off x="0" y="1435395"/>
            <a:ext cx="8882320" cy="323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44"/>
          <p:cNvPicPr preferRelativeResize="0"/>
          <p:nvPr/>
        </p:nvPicPr>
        <p:blipFill rotWithShape="1">
          <a:blip r:embed="rId3">
            <a:alphaModFix/>
          </a:blip>
          <a:srcRect b="32394" l="19650" r="21162" t="29964"/>
          <a:stretch/>
        </p:blipFill>
        <p:spPr>
          <a:xfrm>
            <a:off x="85066" y="882502"/>
            <a:ext cx="8891095" cy="3179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4"/>
          <p:cNvPicPr preferRelativeResize="0"/>
          <p:nvPr/>
        </p:nvPicPr>
        <p:blipFill rotWithShape="1">
          <a:blip r:embed="rId4">
            <a:alphaModFix/>
          </a:blip>
          <a:srcRect b="72794" l="11744" r="16859" t="18175"/>
          <a:stretch/>
        </p:blipFill>
        <p:spPr>
          <a:xfrm>
            <a:off x="620233" y="205564"/>
            <a:ext cx="6528391" cy="464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45"/>
          <p:cNvPicPr preferRelativeResize="0"/>
          <p:nvPr/>
        </p:nvPicPr>
        <p:blipFill rotWithShape="1">
          <a:blip r:embed="rId3">
            <a:alphaModFix/>
          </a:blip>
          <a:srcRect b="28464" l="20233" r="21977" t="37203"/>
          <a:stretch/>
        </p:blipFill>
        <p:spPr>
          <a:xfrm>
            <a:off x="233915" y="1189517"/>
            <a:ext cx="8276741" cy="2764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5"/>
          <p:cNvPicPr preferRelativeResize="0"/>
          <p:nvPr/>
        </p:nvPicPr>
        <p:blipFill rotWithShape="1">
          <a:blip r:embed="rId4">
            <a:alphaModFix/>
          </a:blip>
          <a:srcRect b="72794" l="11744" r="16859" t="18175"/>
          <a:stretch/>
        </p:blipFill>
        <p:spPr>
          <a:xfrm>
            <a:off x="620233" y="205564"/>
            <a:ext cx="6528391" cy="464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6"/>
          <p:cNvPicPr preferRelativeResize="0"/>
          <p:nvPr/>
        </p:nvPicPr>
        <p:blipFill rotWithShape="1">
          <a:blip r:embed="rId3">
            <a:alphaModFix/>
          </a:blip>
          <a:srcRect b="19778" l="12210" r="12209" t="17968"/>
          <a:stretch/>
        </p:blipFill>
        <p:spPr>
          <a:xfrm>
            <a:off x="648586" y="616687"/>
            <a:ext cx="7990316" cy="3700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47"/>
          <p:cNvPicPr preferRelativeResize="0"/>
          <p:nvPr/>
        </p:nvPicPr>
        <p:blipFill rotWithShape="1">
          <a:blip r:embed="rId3">
            <a:alphaModFix/>
          </a:blip>
          <a:srcRect b="22468" l="12326" r="13023" t="23759"/>
          <a:stretch/>
        </p:blipFill>
        <p:spPr>
          <a:xfrm>
            <a:off x="318812" y="946297"/>
            <a:ext cx="8506375" cy="344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8"/>
          <p:cNvPicPr preferRelativeResize="0"/>
          <p:nvPr/>
        </p:nvPicPr>
        <p:blipFill rotWithShape="1">
          <a:blip r:embed="rId3">
            <a:alphaModFix/>
          </a:blip>
          <a:srcRect b="27020" l="35042" r="21028" t="46100"/>
          <a:stretch/>
        </p:blipFill>
        <p:spPr>
          <a:xfrm>
            <a:off x="818706" y="1402168"/>
            <a:ext cx="8008953" cy="2755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8"/>
          <p:cNvPicPr preferRelativeResize="0"/>
          <p:nvPr/>
        </p:nvPicPr>
        <p:blipFill rotWithShape="1">
          <a:blip r:embed="rId3">
            <a:alphaModFix/>
          </a:blip>
          <a:srcRect b="75857" l="12210" r="11510" t="15900"/>
          <a:stretch/>
        </p:blipFill>
        <p:spPr>
          <a:xfrm>
            <a:off x="281980" y="283978"/>
            <a:ext cx="8862020" cy="53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9"/>
          <p:cNvPicPr preferRelativeResize="0"/>
          <p:nvPr/>
        </p:nvPicPr>
        <p:blipFill rotWithShape="1">
          <a:blip r:embed="rId3">
            <a:alphaModFix/>
          </a:blip>
          <a:srcRect b="75857" l="12210" r="11510" t="15900"/>
          <a:stretch/>
        </p:blipFill>
        <p:spPr>
          <a:xfrm>
            <a:off x="140990" y="256067"/>
            <a:ext cx="8862020" cy="5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9"/>
          <p:cNvPicPr preferRelativeResize="0"/>
          <p:nvPr/>
        </p:nvPicPr>
        <p:blipFill rotWithShape="1">
          <a:blip r:embed="rId4">
            <a:alphaModFix/>
          </a:blip>
          <a:srcRect b="32601" l="33721" r="17208" t="35755"/>
          <a:stretch/>
        </p:blipFill>
        <p:spPr>
          <a:xfrm>
            <a:off x="658757" y="1366284"/>
            <a:ext cx="7826485" cy="283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0"/>
          <p:cNvPicPr preferRelativeResize="0"/>
          <p:nvPr/>
        </p:nvPicPr>
        <p:blipFill rotWithShape="1">
          <a:blip r:embed="rId3">
            <a:alphaModFix/>
          </a:blip>
          <a:srcRect b="75857" l="12210" r="11510" t="15900"/>
          <a:stretch/>
        </p:blipFill>
        <p:spPr>
          <a:xfrm>
            <a:off x="140990" y="256067"/>
            <a:ext cx="8862020" cy="5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498" y="1257300"/>
            <a:ext cx="7686261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51"/>
          <p:cNvPicPr preferRelativeResize="0"/>
          <p:nvPr/>
        </p:nvPicPr>
        <p:blipFill rotWithShape="1">
          <a:blip r:embed="rId3">
            <a:alphaModFix/>
          </a:blip>
          <a:srcRect b="75857" l="12210" r="11510" t="15900"/>
          <a:stretch/>
        </p:blipFill>
        <p:spPr>
          <a:xfrm>
            <a:off x="140990" y="256067"/>
            <a:ext cx="8862020" cy="5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567" y="1039111"/>
            <a:ext cx="8282866" cy="3582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52"/>
          <p:cNvPicPr preferRelativeResize="0"/>
          <p:nvPr/>
        </p:nvPicPr>
        <p:blipFill rotWithShape="1">
          <a:blip r:embed="rId3">
            <a:alphaModFix/>
          </a:blip>
          <a:srcRect b="75857" l="12210" r="11510" t="15900"/>
          <a:stretch/>
        </p:blipFill>
        <p:spPr>
          <a:xfrm>
            <a:off x="140990" y="256067"/>
            <a:ext cx="8862020" cy="5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272" y="1407042"/>
            <a:ext cx="824345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53"/>
          <p:cNvPicPr preferRelativeResize="0"/>
          <p:nvPr/>
        </p:nvPicPr>
        <p:blipFill rotWithShape="1">
          <a:blip r:embed="rId3">
            <a:alphaModFix/>
          </a:blip>
          <a:srcRect b="75857" l="12210" r="11510" t="15900"/>
          <a:stretch/>
        </p:blipFill>
        <p:spPr>
          <a:xfrm>
            <a:off x="140990" y="256067"/>
            <a:ext cx="8862020" cy="53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764" y="972107"/>
            <a:ext cx="8036222" cy="2078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2868133"/>
            <a:ext cx="8686800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46668"/>
            <a:ext cx="9144000" cy="2591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859866"/>
            <a:ext cx="9144000" cy="2145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5160"/>
            <a:ext cx="9144000" cy="299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6"/>
          <p:cNvSpPr txBox="1"/>
          <p:nvPr/>
        </p:nvSpPr>
        <p:spPr>
          <a:xfrm>
            <a:off x="862031" y="1484723"/>
            <a:ext cx="76508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ACTIVIDAD 2</a:t>
            </a:r>
            <a:endParaRPr/>
          </a:p>
        </p:txBody>
      </p:sp>
      <p:sp>
        <p:nvSpPr>
          <p:cNvPr id="396" name="Google Shape;396;p56"/>
          <p:cNvSpPr/>
          <p:nvPr/>
        </p:nvSpPr>
        <p:spPr>
          <a:xfrm flipH="1" rot="10800000">
            <a:off x="5387546" y="2434281"/>
            <a:ext cx="3125350" cy="105703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prendiz le ganó tutela al SENA en el Guaviare: Juez de Familia falló a su  favor | Diario del Cauca" id="397" name="Google Shape;39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5102" y="2978672"/>
            <a:ext cx="369379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/>
          <p:nvPr/>
        </p:nvSpPr>
        <p:spPr>
          <a:xfrm>
            <a:off x="347397" y="261769"/>
            <a:ext cx="797480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ACTIVIDAD 2. PROYECTO FORMATIVO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equipos de 3 aprendices, de acuerdo al glosario extraído anteriormente escribe cada concepto y recorta cada concepto en una hoja, realizar un mapa conceptual, pero debes usar las siguientes flechas para unir los conceptos según corresponda.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Texto&#10;&#10;Descripción generada automáticamente" id="403" name="Google Shape;40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248" y="2362282"/>
            <a:ext cx="3134662" cy="1179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ómo hacer un esquema o mapa conceptual? – Colegio Cristo Rey Bogota" id="404" name="Google Shape;40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4866" y="2883560"/>
            <a:ext cx="3387026" cy="2137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8"/>
          <p:cNvSpPr txBox="1"/>
          <p:nvPr/>
        </p:nvSpPr>
        <p:spPr>
          <a:xfrm>
            <a:off x="862031" y="1484723"/>
            <a:ext cx="76508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PORTAFOLIO</a:t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5474825" y="2314017"/>
            <a:ext cx="3038071" cy="45719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a parte - FACIL PORTAFOLIO DEL APRENDIZ - SENA - YouTube" id="411" name="Google Shape;41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212" y="2254164"/>
            <a:ext cx="3038071" cy="2275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9"/>
          <p:cNvSpPr txBox="1"/>
          <p:nvPr/>
        </p:nvSpPr>
        <p:spPr>
          <a:xfrm>
            <a:off x="347318" y="122445"/>
            <a:ext cx="8449363" cy="5021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PORTAFOLIO APRENDIZ SENA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Es una herramienta que permite al aprendiz presentar las evidencias del programa para el control y seguimiento de manera digital. Para el control y seguimiento del proceso formativo, se ha definido la estructuración de portafolios de evidencias que son de responsabilidad del Coordinador Académico y / o Coordinador de Formación Profesional, el equipo ejecutor (Instructores) y el aprendiz. 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0"/>
          <p:cNvSpPr txBox="1"/>
          <p:nvPr/>
        </p:nvSpPr>
        <p:spPr>
          <a:xfrm>
            <a:off x="445625" y="283518"/>
            <a:ext cx="784575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El Portafolio del Aprendiz debe tener: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Acta de plan de mejoramiento Académico. Esta aplica si se </a:t>
            </a: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realizó</a:t>
            </a: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plan de mejoramiento al aprendiz.</a:t>
            </a:r>
            <a:endParaRPr b="0" i="0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Formato diligenciado de Planeación, seguimiento y evaluación etapa Productiva.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Guía de Aprendizaje.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Evidencias de Apren</a:t>
            </a: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dizaje, que deben ser coherentes a las descritas en la guía de Aprendizaje.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b="0" i="0"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Plan de trabajo. Que se debe acordar con el instructor.</a:t>
            </a:r>
            <a:endParaRPr/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Calibri"/>
              <a:buAutoNum type="arabicPeriod"/>
            </a:pPr>
            <a:r>
              <a:rPr lang="es-MX"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Instrumentos de evaluación </a:t>
            </a:r>
            <a:endParaRPr b="0" i="0" sz="24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1"/>
          <p:cNvSpPr txBox="1"/>
          <p:nvPr/>
        </p:nvSpPr>
        <p:spPr>
          <a:xfrm>
            <a:off x="862031" y="1484723"/>
            <a:ext cx="765086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ACTIVIDAD </a:t>
            </a:r>
            <a:endParaRPr/>
          </a:p>
        </p:txBody>
      </p:sp>
      <p:sp>
        <p:nvSpPr>
          <p:cNvPr id="427" name="Google Shape;427;p61"/>
          <p:cNvSpPr/>
          <p:nvPr/>
        </p:nvSpPr>
        <p:spPr>
          <a:xfrm flipH="1" rot="10800000">
            <a:off x="5387546" y="2434281"/>
            <a:ext cx="3125350" cy="105703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371" y="2603517"/>
            <a:ext cx="2924175" cy="1913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2019-11-27T03:16:21Z</dcterms:created>
  <dc:creator>Leonardo Cantor</dc:creator>
</cp:coreProperties>
</file>