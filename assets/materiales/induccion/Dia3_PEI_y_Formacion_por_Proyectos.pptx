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7" roundtripDataSignature="AMtx7mjYkMJHh767/xijVtqYfxYa6nPZj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492DD9-358A-4E20-8A53-7994A84F1370}">
  <a:tblStyle styleId="{95492DD9-358A-4E20-8A53-7994A84F137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1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52797998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9213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3116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 name="Google Shape;6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6297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 name="Google Shape;7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14369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 name="Google Shape;7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2178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6734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8547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9780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39740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75755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33479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0903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237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22511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86613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6087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20866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99207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90603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62780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82191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60534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67279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7204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04917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13415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4383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83436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4837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15573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5434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62463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7" name="Google Shape;227;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98677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02009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99989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55908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66772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3497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9" name="Google Shape;259;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05151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39460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0" name="Google Shape;2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9528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70154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30122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5" name="Google Shape;285;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29702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1" name="Google Shape;291;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7679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01198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075709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7" name="Google Shape;307;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40313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195945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8" name="Google Shape;318;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103220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3" name="Google Shape;323;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087333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9" name="Google Shape;329;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194982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4" name="Google Shape;334;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448036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0" name="Google Shape;340;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881575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6" name="Google Shape;346;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9329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3" name="Google Shape;353;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969828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9" name="Google Shape;359;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345677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6" name="Google Shape;366;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119120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1" name="Google Shape;371;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82689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11"/>
        <p:cNvGrpSpPr/>
        <p:nvPr/>
      </p:nvGrpSpPr>
      <p:grpSpPr>
        <a:xfrm>
          <a:off x="0" y="0"/>
          <a:ext cx="0" cy="0"/>
          <a:chOff x="0" y="0"/>
          <a:chExt cx="0" cy="0"/>
        </a:xfrm>
      </p:grpSpPr>
      <p:pic>
        <p:nvPicPr>
          <p:cNvPr id="12" name="Google Shape;12;p62"/>
          <p:cNvPicPr preferRelativeResize="0"/>
          <p:nvPr/>
        </p:nvPicPr>
        <p:blipFill rotWithShape="1">
          <a:blip r:embed="rId2">
            <a:alphaModFix/>
          </a:blip>
          <a:srcRect/>
          <a:stretch/>
        </p:blipFill>
        <p:spPr>
          <a:xfrm>
            <a:off x="0" y="0"/>
            <a:ext cx="9144000" cy="51435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p:cSld name="Título y objetos">
    <p:spTree>
      <p:nvGrpSpPr>
        <p:cNvPr id="1" name="Shape 13"/>
        <p:cNvGrpSpPr/>
        <p:nvPr/>
      </p:nvGrpSpPr>
      <p:grpSpPr>
        <a:xfrm>
          <a:off x="0" y="0"/>
          <a:ext cx="0" cy="0"/>
          <a:chOff x="0" y="0"/>
          <a:chExt cx="0" cy="0"/>
        </a:xfrm>
      </p:grpSpPr>
      <p:pic>
        <p:nvPicPr>
          <p:cNvPr id="14" name="Google Shape;14;p63"/>
          <p:cNvPicPr preferRelativeResize="0"/>
          <p:nvPr/>
        </p:nvPicPr>
        <p:blipFill rotWithShape="1">
          <a:blip r:embed="rId2">
            <a:alphaModFix/>
          </a:blip>
          <a:srcRect/>
          <a:stretch/>
        </p:blipFill>
        <p:spPr>
          <a:xfrm>
            <a:off x="0" y="0"/>
            <a:ext cx="9144000" cy="51435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p:cSld name="Encabezado de sección">
    <p:spTree>
      <p:nvGrpSpPr>
        <p:cNvPr id="1" name="Shape 15"/>
        <p:cNvGrpSpPr/>
        <p:nvPr/>
      </p:nvGrpSpPr>
      <p:grpSpPr>
        <a:xfrm>
          <a:off x="0" y="0"/>
          <a:ext cx="0" cy="0"/>
          <a:chOff x="0" y="0"/>
          <a:chExt cx="0" cy="0"/>
        </a:xfrm>
      </p:grpSpPr>
      <p:pic>
        <p:nvPicPr>
          <p:cNvPr id="16" name="Google Shape;16;p64"/>
          <p:cNvPicPr preferRelativeResize="0"/>
          <p:nvPr/>
        </p:nvPicPr>
        <p:blipFill rotWithShape="1">
          <a:blip r:embed="rId2">
            <a:alphaModFix/>
          </a:blip>
          <a:srcRect l="88730" b="81517"/>
          <a:stretch/>
        </p:blipFill>
        <p:spPr>
          <a:xfrm>
            <a:off x="8113486" y="0"/>
            <a:ext cx="1030514" cy="95068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p:cSld name="Dos objetos">
    <p:spTree>
      <p:nvGrpSpPr>
        <p:cNvPr id="1" name="Shape 17"/>
        <p:cNvGrpSpPr/>
        <p:nvPr/>
      </p:nvGrpSpPr>
      <p:grpSpPr>
        <a:xfrm>
          <a:off x="0" y="0"/>
          <a:ext cx="0" cy="0"/>
          <a:chOff x="0" y="0"/>
          <a:chExt cx="0" cy="0"/>
        </a:xfrm>
      </p:grpSpPr>
      <p:pic>
        <p:nvPicPr>
          <p:cNvPr id="18" name="Google Shape;18;p65"/>
          <p:cNvPicPr preferRelativeResize="0"/>
          <p:nvPr/>
        </p:nvPicPr>
        <p:blipFill rotWithShape="1">
          <a:blip r:embed="rId2">
            <a:alphaModFix/>
          </a:blip>
          <a:srcRect/>
          <a:stretch/>
        </p:blipFill>
        <p:spPr>
          <a:xfrm>
            <a:off x="0" y="0"/>
            <a:ext cx="9144000" cy="51435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9"/>
        <p:cNvGrpSpPr/>
        <p:nvPr/>
      </p:nvGrpSpPr>
      <p:grpSpPr>
        <a:xfrm>
          <a:off x="0" y="0"/>
          <a:ext cx="0" cy="0"/>
          <a:chOff x="0" y="0"/>
          <a:chExt cx="0" cy="0"/>
        </a:xfrm>
      </p:grpSpPr>
      <p:pic>
        <p:nvPicPr>
          <p:cNvPr id="20" name="Google Shape;20;p66"/>
          <p:cNvPicPr preferRelativeResize="0"/>
          <p:nvPr/>
        </p:nvPicPr>
        <p:blipFill rotWithShape="1">
          <a:blip r:embed="rId2">
            <a:alphaModFix/>
          </a:blip>
          <a:srcRect/>
          <a:stretch/>
        </p:blipFill>
        <p:spPr>
          <a:xfrm>
            <a:off x="0" y="0"/>
            <a:ext cx="9144000" cy="51435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p:cSld name="Comparación">
    <p:spTree>
      <p:nvGrpSpPr>
        <p:cNvPr id="1" name="Shape 21"/>
        <p:cNvGrpSpPr/>
        <p:nvPr/>
      </p:nvGrpSpPr>
      <p:grpSpPr>
        <a:xfrm>
          <a:off x="0" y="0"/>
          <a:ext cx="0" cy="0"/>
          <a:chOff x="0" y="0"/>
          <a:chExt cx="0" cy="0"/>
        </a:xfrm>
      </p:grpSpPr>
      <p:pic>
        <p:nvPicPr>
          <p:cNvPr id="22" name="Google Shape;22;p67"/>
          <p:cNvPicPr preferRelativeResize="0"/>
          <p:nvPr/>
        </p:nvPicPr>
        <p:blipFill rotWithShape="1">
          <a:blip r:embed="rId2">
            <a:alphaModFix/>
          </a:blip>
          <a:srcRect/>
          <a:stretch/>
        </p:blipFill>
        <p:spPr>
          <a:xfrm>
            <a:off x="0" y="0"/>
            <a:ext cx="9144000" cy="51435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ólo el título">
  <p:cSld name="Sólo el título">
    <p:spTree>
      <p:nvGrpSpPr>
        <p:cNvPr id="1" name="Shape 23"/>
        <p:cNvGrpSpPr/>
        <p:nvPr/>
      </p:nvGrpSpPr>
      <p:grpSpPr>
        <a:xfrm>
          <a:off x="0" y="0"/>
          <a:ext cx="0" cy="0"/>
          <a:chOff x="0" y="0"/>
          <a:chExt cx="0" cy="0"/>
        </a:xfrm>
      </p:grpSpPr>
      <p:pic>
        <p:nvPicPr>
          <p:cNvPr id="24" name="Google Shape;24;p68"/>
          <p:cNvPicPr preferRelativeResize="0"/>
          <p:nvPr/>
        </p:nvPicPr>
        <p:blipFill rotWithShape="1">
          <a:blip r:embed="rId2">
            <a:alphaModFix/>
          </a:blip>
          <a:srcRect/>
          <a:stretch/>
        </p:blipFill>
        <p:spPr>
          <a:xfrm>
            <a:off x="0" y="0"/>
            <a:ext cx="9144000" cy="51435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25"/>
        <p:cNvGrpSpPr/>
        <p:nvPr/>
      </p:nvGrpSpPr>
      <p:grpSpPr>
        <a:xfrm>
          <a:off x="0" y="0"/>
          <a:ext cx="0" cy="0"/>
          <a:chOff x="0" y="0"/>
          <a:chExt cx="0" cy="0"/>
        </a:xfrm>
      </p:grpSpPr>
      <p:sp>
        <p:nvSpPr>
          <p:cNvPr id="26" name="Google Shape;26;p69"/>
          <p:cNvSpPr txBox="1">
            <a:spLocks noGrp="1"/>
          </p:cNvSpPr>
          <p:nvPr>
            <p:ph type="title"/>
          </p:nvPr>
        </p:nvSpPr>
        <p:spPr>
          <a:xfrm>
            <a:off x="457201" y="204787"/>
            <a:ext cx="3008313" cy="8715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69"/>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28" name="Google Shape;28;p69"/>
          <p:cNvSpPr txBox="1">
            <a:spLocks noGrp="1"/>
          </p:cNvSpPr>
          <p:nvPr>
            <p:ph type="body" idx="2"/>
          </p:nvPr>
        </p:nvSpPr>
        <p:spPr>
          <a:xfrm>
            <a:off x="457201" y="1076326"/>
            <a:ext cx="3008313" cy="3518297"/>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29" name="Google Shape;29;p69"/>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69"/>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69"/>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32"/>
        <p:cNvGrpSpPr/>
        <p:nvPr/>
      </p:nvGrpSpPr>
      <p:grpSpPr>
        <a:xfrm>
          <a:off x="0" y="0"/>
          <a:ext cx="0" cy="0"/>
          <a:chOff x="0" y="0"/>
          <a:chExt cx="0" cy="0"/>
        </a:xfrm>
      </p:grpSpPr>
      <p:sp>
        <p:nvSpPr>
          <p:cNvPr id="33" name="Google Shape;33;p70"/>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70"/>
          <p:cNvSpPr>
            <a:spLocks noGrp="1"/>
          </p:cNvSpPr>
          <p:nvPr>
            <p:ph type="pic" idx="2"/>
          </p:nvPr>
        </p:nvSpPr>
        <p:spPr>
          <a:xfrm>
            <a:off x="1792288" y="459581"/>
            <a:ext cx="5486400" cy="3086100"/>
          </a:xfrm>
          <a:prstGeom prst="rect">
            <a:avLst/>
          </a:prstGeom>
          <a:noFill/>
          <a:ln>
            <a:noFill/>
          </a:ln>
        </p:spPr>
      </p:sp>
      <p:sp>
        <p:nvSpPr>
          <p:cNvPr id="35" name="Google Shape;35;p70"/>
          <p:cNvSpPr txBox="1">
            <a:spLocks noGrp="1"/>
          </p:cNvSpPr>
          <p:nvPr>
            <p:ph type="body" idx="1"/>
          </p:nvPr>
        </p:nvSpPr>
        <p:spPr>
          <a:xfrm>
            <a:off x="1792288" y="4025503"/>
            <a:ext cx="5486400" cy="603647"/>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36" name="Google Shape;36;p70"/>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70"/>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0"/>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39"/>
        <p:cNvGrpSpPr/>
        <p:nvPr/>
      </p:nvGrpSpPr>
      <p:grpSpPr>
        <a:xfrm>
          <a:off x="0" y="0"/>
          <a:ext cx="0" cy="0"/>
          <a:chOff x="0" y="0"/>
          <a:chExt cx="0" cy="0"/>
        </a:xfrm>
      </p:grpSpPr>
      <p:sp>
        <p:nvSpPr>
          <p:cNvPr id="40" name="Google Shape;40;p71"/>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71"/>
          <p:cNvSpPr txBox="1">
            <a:spLocks noGrp="1"/>
          </p:cNvSpPr>
          <p:nvPr>
            <p:ph type="body" idx="1"/>
          </p:nvPr>
        </p:nvSpPr>
        <p:spPr>
          <a:xfrm rot="5400000">
            <a:off x="2874764" y="-1217413"/>
            <a:ext cx="3394472"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2" name="Google Shape;42;p7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1"/>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45"/>
        <p:cNvGrpSpPr/>
        <p:nvPr/>
      </p:nvGrpSpPr>
      <p:grpSpPr>
        <a:xfrm>
          <a:off x="0" y="0"/>
          <a:ext cx="0" cy="0"/>
          <a:chOff x="0" y="0"/>
          <a:chExt cx="0" cy="0"/>
        </a:xfrm>
      </p:grpSpPr>
      <p:sp>
        <p:nvSpPr>
          <p:cNvPr id="46" name="Google Shape;46;p72"/>
          <p:cNvSpPr txBox="1">
            <a:spLocks noGrp="1"/>
          </p:cNvSpPr>
          <p:nvPr>
            <p:ph type="title"/>
          </p:nvPr>
        </p:nvSpPr>
        <p:spPr>
          <a:xfrm rot="5400000">
            <a:off x="5463778" y="1371601"/>
            <a:ext cx="4388644"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2"/>
          <p:cNvSpPr txBox="1">
            <a:spLocks noGrp="1"/>
          </p:cNvSpPr>
          <p:nvPr>
            <p:ph type="body" idx="1"/>
          </p:nvPr>
        </p:nvSpPr>
        <p:spPr>
          <a:xfrm rot="5400000">
            <a:off x="1272778" y="-609599"/>
            <a:ext cx="4388644"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8" name="Google Shape;48;p72"/>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2"/>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7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1"/>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1"/>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6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61"/>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6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3.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
          <p:cNvSpPr txBox="1"/>
          <p:nvPr/>
        </p:nvSpPr>
        <p:spPr>
          <a:xfrm>
            <a:off x="3547640" y="984773"/>
            <a:ext cx="4572000" cy="1200329"/>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s-MX" sz="2400" b="1" i="0" u="none" strike="noStrike" cap="none">
                <a:solidFill>
                  <a:srgbClr val="3F3F3F"/>
                </a:solidFill>
                <a:latin typeface="Calibri"/>
                <a:ea typeface="Calibri"/>
                <a:cs typeface="Calibri"/>
                <a:sym typeface="Calibri"/>
              </a:rPr>
              <a:t>PROYECTO EDUCATIVO INSTITUCIONAL - PEI Y FORMACIÓN POR PROYECTOS</a:t>
            </a:r>
            <a:endParaRPr sz="3600" b="1" i="0" u="none" strike="noStrike" cap="none">
              <a:solidFill>
                <a:srgbClr val="3F3F3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2"/>
          <p:cNvSpPr txBox="1"/>
          <p:nvPr/>
        </p:nvSpPr>
        <p:spPr>
          <a:xfrm>
            <a:off x="1977645" y="917121"/>
            <a:ext cx="6179378" cy="2677656"/>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s-MX" sz="2800" b="1" i="0" u="none" strike="noStrike" cap="none">
                <a:solidFill>
                  <a:srgbClr val="3F3F3F"/>
                </a:solidFill>
                <a:latin typeface="Calibri"/>
                <a:ea typeface="Calibri"/>
                <a:cs typeface="Calibri"/>
                <a:sym typeface="Calibri"/>
              </a:rPr>
              <a:t>TEMAS A TRABAJAR</a:t>
            </a:r>
            <a:endParaRPr/>
          </a:p>
          <a:p>
            <a:pPr marL="0" marR="0" lvl="0" indent="0" algn="r" rtl="0">
              <a:spcBef>
                <a:spcPts val="0"/>
              </a:spcBef>
              <a:spcAft>
                <a:spcPts val="0"/>
              </a:spcAft>
              <a:buNone/>
            </a:pPr>
            <a:endParaRPr sz="2800" b="0" i="0" u="none" strike="noStrike" cap="none">
              <a:solidFill>
                <a:srgbClr val="3F3F3F"/>
              </a:solidFill>
              <a:latin typeface="Calibri"/>
              <a:ea typeface="Calibri"/>
              <a:cs typeface="Calibri"/>
              <a:sym typeface="Calibri"/>
            </a:endParaRPr>
          </a:p>
          <a:p>
            <a:pPr marL="514350" marR="0" lvl="0" indent="-514350" algn="r" rtl="0">
              <a:spcBef>
                <a:spcPts val="0"/>
              </a:spcBef>
              <a:spcAft>
                <a:spcPts val="0"/>
              </a:spcAft>
              <a:buClr>
                <a:srgbClr val="3F3F3F"/>
              </a:buClr>
              <a:buSzPts val="2800"/>
              <a:buFont typeface="Calibri"/>
              <a:buAutoNum type="arabicPeriod"/>
            </a:pPr>
            <a:r>
              <a:rPr lang="es-MX" sz="2800" b="0" i="0" u="none" strike="noStrike" cap="none">
                <a:solidFill>
                  <a:srgbClr val="3F3F3F"/>
                </a:solidFill>
                <a:latin typeface="Calibri"/>
                <a:ea typeface="Calibri"/>
                <a:cs typeface="Calibri"/>
                <a:sym typeface="Calibri"/>
              </a:rPr>
              <a:t>Proyecto Educativo Institucional – PEI</a:t>
            </a:r>
            <a:endParaRPr/>
          </a:p>
          <a:p>
            <a:pPr marL="514350" marR="0" lvl="0" indent="-514350" algn="r" rtl="0">
              <a:spcBef>
                <a:spcPts val="0"/>
              </a:spcBef>
              <a:spcAft>
                <a:spcPts val="0"/>
              </a:spcAft>
              <a:buClr>
                <a:srgbClr val="3F3F3F"/>
              </a:buClr>
              <a:buSzPts val="2800"/>
              <a:buFont typeface="Calibri"/>
              <a:buAutoNum type="arabicPeriod"/>
            </a:pPr>
            <a:r>
              <a:rPr lang="es-MX" sz="2800" b="0" i="0" u="none" strike="noStrike" cap="none">
                <a:solidFill>
                  <a:srgbClr val="3F3F3F"/>
                </a:solidFill>
                <a:latin typeface="Calibri"/>
                <a:ea typeface="Calibri"/>
                <a:cs typeface="Calibri"/>
                <a:sym typeface="Calibri"/>
              </a:rPr>
              <a:t>Formación por Proyectos</a:t>
            </a:r>
            <a:endParaRPr/>
          </a:p>
          <a:p>
            <a:pPr marL="514350" marR="0" lvl="0" indent="-514350" algn="r" rtl="0">
              <a:spcBef>
                <a:spcPts val="0"/>
              </a:spcBef>
              <a:spcAft>
                <a:spcPts val="0"/>
              </a:spcAft>
              <a:buClr>
                <a:srgbClr val="3F3F3F"/>
              </a:buClr>
              <a:buSzPts val="2800"/>
              <a:buFont typeface="Calibri"/>
              <a:buAutoNum type="arabicPeriod"/>
            </a:pPr>
            <a:r>
              <a:rPr lang="es-MX" sz="2800" b="0" i="0" u="none" strike="noStrike" cap="none">
                <a:solidFill>
                  <a:srgbClr val="3F3F3F"/>
                </a:solidFill>
                <a:latin typeface="Calibri"/>
                <a:ea typeface="Calibri"/>
                <a:cs typeface="Calibri"/>
                <a:sym typeface="Calibri"/>
              </a:rPr>
              <a:t>Estilos de Aprendizaje</a:t>
            </a:r>
            <a:endParaRPr/>
          </a:p>
          <a:p>
            <a:pPr marL="514350" marR="0" lvl="0" indent="-336550" algn="r" rtl="0">
              <a:spcBef>
                <a:spcPts val="0"/>
              </a:spcBef>
              <a:spcAft>
                <a:spcPts val="0"/>
              </a:spcAft>
              <a:buClr>
                <a:schemeClr val="dk1"/>
              </a:buClr>
              <a:buSzPts val="2800"/>
              <a:buFont typeface="Calibri"/>
              <a:buNone/>
            </a:pPr>
            <a:endParaRPr sz="2800" b="0" i="0" u="none" strike="noStrike" cap="none">
              <a:solidFill>
                <a:srgbClr val="3F3F3F"/>
              </a:solidFill>
              <a:latin typeface="Calibri"/>
              <a:ea typeface="Calibri"/>
              <a:cs typeface="Calibri"/>
              <a:sym typeface="Calibri"/>
            </a:endParaRPr>
          </a:p>
        </p:txBody>
      </p:sp>
      <p:pic>
        <p:nvPicPr>
          <p:cNvPr id="61" name="Google Shape;61;p2" descr="5 Ideas de Presentaciones Interactivas que Atraerán a los Estudiantes |  ViewSonic Library"/>
          <p:cNvPicPr preferRelativeResize="0"/>
          <p:nvPr/>
        </p:nvPicPr>
        <p:blipFill rotWithShape="1">
          <a:blip r:embed="rId3">
            <a:alphaModFix/>
          </a:blip>
          <a:srcRect/>
          <a:stretch/>
        </p:blipFill>
        <p:spPr>
          <a:xfrm>
            <a:off x="1245002" y="2651499"/>
            <a:ext cx="2857500" cy="1600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3"/>
          <p:cNvSpPr txBox="1"/>
          <p:nvPr/>
        </p:nvSpPr>
        <p:spPr>
          <a:xfrm>
            <a:off x="862031" y="921799"/>
            <a:ext cx="7650865" cy="144655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s-MX" sz="4400" b="1" i="0" u="none" strike="noStrike" cap="none">
                <a:solidFill>
                  <a:srgbClr val="3F3F3F"/>
                </a:solidFill>
                <a:latin typeface="Calibri"/>
                <a:ea typeface="Calibri"/>
                <a:cs typeface="Calibri"/>
                <a:sym typeface="Calibri"/>
              </a:rPr>
              <a:t>PROYECTO EDUCATIVO INSTITUCIONAL - PEI</a:t>
            </a:r>
            <a:endParaRPr/>
          </a:p>
        </p:txBody>
      </p:sp>
      <p:sp>
        <p:nvSpPr>
          <p:cNvPr id="67" name="Google Shape;67;p3"/>
          <p:cNvSpPr/>
          <p:nvPr/>
        </p:nvSpPr>
        <p:spPr>
          <a:xfrm>
            <a:off x="3580355" y="2539984"/>
            <a:ext cx="4932541" cy="45719"/>
          </a:xfrm>
          <a:prstGeom prst="rect">
            <a:avLst/>
          </a:prstGeom>
          <a:solidFill>
            <a:srgbClr val="FF66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68" name="Google Shape;68;p3"/>
          <p:cNvPicPr preferRelativeResize="0"/>
          <p:nvPr/>
        </p:nvPicPr>
        <p:blipFill rotWithShape="1">
          <a:blip r:embed="rId3">
            <a:alphaModFix/>
          </a:blip>
          <a:srcRect/>
          <a:stretch/>
        </p:blipFill>
        <p:spPr>
          <a:xfrm>
            <a:off x="4128181" y="2775152"/>
            <a:ext cx="3680179" cy="182767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4"/>
          <p:cNvSpPr txBox="1"/>
          <p:nvPr/>
        </p:nvSpPr>
        <p:spPr>
          <a:xfrm>
            <a:off x="509443" y="261769"/>
            <a:ext cx="7697008" cy="967957"/>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s-MX" sz="2000" b="0" i="0" u="none" strike="noStrike" cap="none">
                <a:solidFill>
                  <a:srgbClr val="3F3F3F"/>
                </a:solidFill>
                <a:latin typeface="Calibri"/>
                <a:ea typeface="Calibri"/>
                <a:cs typeface="Calibri"/>
                <a:sym typeface="Calibri"/>
              </a:rPr>
              <a:t>ANALICEMOS………</a:t>
            </a:r>
            <a:endParaRPr/>
          </a:p>
          <a:p>
            <a:pPr marL="0" marR="0" lvl="0" indent="0" algn="just" rtl="0">
              <a:lnSpc>
                <a:spcPct val="150000"/>
              </a:lnSpc>
              <a:spcBef>
                <a:spcPts val="0"/>
              </a:spcBef>
              <a:spcAft>
                <a:spcPts val="0"/>
              </a:spcAft>
              <a:buNone/>
            </a:pPr>
            <a:endParaRPr sz="2000" b="0" i="0" u="none" strike="noStrike" cap="none">
              <a:solidFill>
                <a:srgbClr val="3F3F3F"/>
              </a:solidFill>
              <a:latin typeface="Calibri"/>
              <a:ea typeface="Calibri"/>
              <a:cs typeface="Calibri"/>
              <a:sym typeface="Calibri"/>
            </a:endParaRPr>
          </a:p>
        </p:txBody>
      </p:sp>
      <p:pic>
        <p:nvPicPr>
          <p:cNvPr id="74" name="Google Shape;74;p4" descr="Frases Celebres Para NiГ±os Educacion - Citas Adultos En Valladolid"/>
          <p:cNvPicPr preferRelativeResize="0"/>
          <p:nvPr/>
        </p:nvPicPr>
        <p:blipFill rotWithShape="1">
          <a:blip r:embed="rId3">
            <a:alphaModFix/>
          </a:blip>
          <a:srcRect/>
          <a:stretch/>
        </p:blipFill>
        <p:spPr>
          <a:xfrm>
            <a:off x="2056092" y="939274"/>
            <a:ext cx="5050763" cy="378319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5"/>
          <p:cNvSpPr txBox="1"/>
          <p:nvPr/>
        </p:nvSpPr>
        <p:spPr>
          <a:xfrm>
            <a:off x="818227" y="904519"/>
            <a:ext cx="7473018" cy="34162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2400" b="0" i="0" u="none" strike="noStrike" cap="none" dirty="0">
                <a:solidFill>
                  <a:srgbClr val="3F3F3F"/>
                </a:solidFill>
                <a:latin typeface="Calibri"/>
                <a:ea typeface="Calibri"/>
                <a:cs typeface="Calibri"/>
                <a:sym typeface="Calibri"/>
              </a:rPr>
              <a:t>El proceso de conocimiento en el SENA es el medio propicio para la confluencia entre teoría y práctica, para poner en acción la confluencia de varias disciplinas en función de la resolución</a:t>
            </a:r>
            <a:r>
              <a:rPr lang="es-MX" sz="2400" dirty="0">
                <a:solidFill>
                  <a:srgbClr val="3F3F3F"/>
                </a:solidFill>
                <a:latin typeface="Calibri"/>
                <a:ea typeface="Calibri"/>
                <a:cs typeface="Calibri"/>
                <a:sym typeface="Calibri"/>
              </a:rPr>
              <a:t> </a:t>
            </a:r>
            <a:r>
              <a:rPr lang="es-MX" sz="2400" b="0" i="0" u="none" strike="noStrike" cap="none" dirty="0">
                <a:solidFill>
                  <a:srgbClr val="3F3F3F"/>
                </a:solidFill>
                <a:latin typeface="Calibri"/>
                <a:ea typeface="Calibri"/>
                <a:cs typeface="Calibri"/>
                <a:sym typeface="Calibri"/>
              </a:rPr>
              <a:t>de problemas (interdisciplinariedad), para incentivar el trabajo en equipo, para generar experiencias investigativas, potencializando de esta forma la capacidad del Aprendiz para la autonomía, la autogestión y el empoderamiento en su proceso de aprendizaje. </a:t>
            </a:r>
            <a:endParaRPr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6"/>
          <p:cNvSpPr txBox="1"/>
          <p:nvPr/>
        </p:nvSpPr>
        <p:spPr>
          <a:xfrm>
            <a:off x="445626" y="494258"/>
            <a:ext cx="7772400" cy="4155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2400" b="0" i="0" u="none" strike="noStrike" cap="none" dirty="0">
                <a:solidFill>
                  <a:srgbClr val="3F3F3F"/>
                </a:solidFill>
                <a:latin typeface="Calibri"/>
                <a:ea typeface="Calibri"/>
                <a:cs typeface="Calibri"/>
                <a:sym typeface="Calibri"/>
              </a:rPr>
              <a:t>El Aprendizaje por Proyectos se constituye en la Estrategia Didáctica Activa que de manera más aproximada genera las condiciones propicias para la gestión sistémica y holística del conocimiento, propia de la Formación Profesional Integral, en donde la actividad cognitiva, valorativo-actitudinal y procedimental encuentran el escenario propicio para que, de manera articulada y sistémica propicien el desarrollo de habilidades de pensamiento de orden superior, de destrezas biofísicas acompañadas de actitudes y comportamientos que convaliden desempeños éticos y de calidad, como expresión del desarrollo de competencias. </a:t>
            </a:r>
            <a:endParaRPr sz="2400" b="0" i="0" u="none" strike="noStrike" cap="none" dirty="0">
              <a:solidFill>
                <a:srgbClr val="3F3F3F"/>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7"/>
          <p:cNvSpPr txBox="1"/>
          <p:nvPr/>
        </p:nvSpPr>
        <p:spPr>
          <a:xfrm>
            <a:off x="745749" y="886412"/>
            <a:ext cx="7226997" cy="341627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400" b="0" i="0" u="none" strike="noStrike" cap="none" dirty="0">
                <a:solidFill>
                  <a:srgbClr val="3F3F3F"/>
                </a:solidFill>
                <a:latin typeface="Calibri"/>
                <a:ea typeface="Calibri"/>
                <a:cs typeface="Calibri"/>
                <a:sym typeface="Calibri"/>
              </a:rPr>
              <a:t>El Modelo Pedagógico de carácter humanista – cognitivo, -El Enfoque para el Desarrollo de Competencias y El Aprendizaje por Proyectos son los pilares que, de manera articulada y sistémica constituyen la estructura formativa, consolidada en el Proyecto Educativo Institucional del SENA, como una acción estratégica cuyo propósito es aportar al sector productivo, a la construcción de sociedad y al desarrollo del país. </a:t>
            </a:r>
            <a:endParaRPr sz="2400" b="0" i="0" u="none" strike="noStrike" cap="none" dirty="0">
              <a:solidFill>
                <a:srgbClr val="3F3F3F"/>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8"/>
          <p:cNvSpPr txBox="1"/>
          <p:nvPr/>
        </p:nvSpPr>
        <p:spPr>
          <a:xfrm>
            <a:off x="445625" y="283518"/>
            <a:ext cx="8131215" cy="44935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2200" b="1" i="0" u="none" strike="noStrike" cap="none">
                <a:solidFill>
                  <a:srgbClr val="3F3F3F"/>
                </a:solidFill>
                <a:latin typeface="Calibri"/>
                <a:ea typeface="Calibri"/>
                <a:cs typeface="Calibri"/>
                <a:sym typeface="Calibri"/>
              </a:rPr>
              <a:t>FORMACIÓN PROFESIONAL INTEGRAL</a:t>
            </a:r>
            <a:endParaRPr/>
          </a:p>
          <a:p>
            <a:pPr marL="0" marR="0" lvl="0" indent="0" algn="just" rtl="0">
              <a:spcBef>
                <a:spcPts val="0"/>
              </a:spcBef>
              <a:spcAft>
                <a:spcPts val="0"/>
              </a:spcAft>
              <a:buNone/>
            </a:pPr>
            <a:endParaRPr sz="22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200" b="0" i="0" u="none" strike="noStrike" cap="none">
                <a:solidFill>
                  <a:schemeClr val="dk1"/>
                </a:solidFill>
                <a:latin typeface="Calibri"/>
                <a:ea typeface="Calibri"/>
                <a:cs typeface="Calibri"/>
                <a:sym typeface="Calibri"/>
              </a:rPr>
              <a:t>La Formación Profesional Integral es el proceso mediante el cual la persona adquiere y desarrolla de manera permanente conocimientos, destrezas y aptitudes e identifica, genera y asume valores y actitudes para su realización humana y su participación activa en el trabajo productivo y en la toma de decisiones sociales. </a:t>
            </a:r>
            <a:endParaRPr sz="22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endParaRPr sz="22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200" b="0" i="0" u="none" strike="noStrike" cap="none">
                <a:solidFill>
                  <a:schemeClr val="dk1"/>
                </a:solidFill>
                <a:latin typeface="Calibri"/>
                <a:ea typeface="Calibri"/>
                <a:cs typeface="Calibri"/>
                <a:sym typeface="Calibri"/>
              </a:rPr>
              <a:t>La Formación Profesional que imparte el SENA, constituye un proceso educativo teórico-práctico de carácter integral, orientado al desarrollo de conocimientos técnicos, tecnológicos y de actitudes y valores para la convivencia social, que le permiten a la persona actuar crítica y creativamente en el mundo del trabajo y de la vida. </a:t>
            </a:r>
            <a:endParaRPr sz="2200" b="0" i="0" u="none" strike="noStrike" cap="none">
              <a:solidFill>
                <a:srgbClr val="3F3F3F"/>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9"/>
          <p:cNvSpPr txBox="1"/>
          <p:nvPr/>
        </p:nvSpPr>
        <p:spPr>
          <a:xfrm>
            <a:off x="445625" y="283518"/>
            <a:ext cx="8131215" cy="452431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2400" b="1" i="0" u="none" strike="noStrike" cap="none">
                <a:solidFill>
                  <a:srgbClr val="3F3F3F"/>
                </a:solidFill>
                <a:latin typeface="Calibri"/>
                <a:ea typeface="Calibri"/>
                <a:cs typeface="Calibri"/>
                <a:sym typeface="Calibri"/>
              </a:rPr>
              <a:t>PRINCIPIOS DE LA FORMACIÓN PROFESIONAL INTEGRAL</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1. </a:t>
            </a:r>
            <a:r>
              <a:rPr lang="es-MX" sz="2400" b="1" i="0" u="none" strike="noStrike" cap="none">
                <a:solidFill>
                  <a:srgbClr val="3F3F3F"/>
                </a:solidFill>
                <a:latin typeface="Calibri"/>
                <a:ea typeface="Calibri"/>
                <a:cs typeface="Calibri"/>
                <a:sym typeface="Calibri"/>
              </a:rPr>
              <a:t>El Trabajo Productivo: </a:t>
            </a:r>
            <a:r>
              <a:rPr lang="es-MX" sz="2400" b="0" i="0" u="none" strike="noStrike" cap="none">
                <a:solidFill>
                  <a:srgbClr val="3F3F3F"/>
                </a:solidFill>
                <a:latin typeface="Calibri"/>
                <a:ea typeface="Calibri"/>
                <a:cs typeface="Calibri"/>
                <a:sym typeface="Calibri"/>
              </a:rPr>
              <a:t>La aceptación de que el desarrollo de las facultades humanas se logra fundamentalmente a través del trabajo, esto es, mediante la transformación intencional que el hombre hace de su entorno físico y social. </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1" i="0" u="none" strike="noStrike" cap="none">
                <a:solidFill>
                  <a:srgbClr val="3F3F3F"/>
                </a:solidFill>
                <a:latin typeface="Calibri"/>
                <a:ea typeface="Calibri"/>
                <a:cs typeface="Calibri"/>
                <a:sym typeface="Calibri"/>
              </a:rPr>
              <a:t>2. La Formación Permanente: </a:t>
            </a:r>
            <a:r>
              <a:rPr lang="es-MX" sz="2400" b="0" i="0" u="none" strike="noStrike" cap="none">
                <a:solidFill>
                  <a:srgbClr val="3F3F3F"/>
                </a:solidFill>
                <a:latin typeface="Calibri"/>
                <a:ea typeface="Calibri"/>
                <a:cs typeface="Calibri"/>
                <a:sym typeface="Calibri"/>
              </a:rPr>
              <a:t>El reconocimiento del derecho y el deber del sujeto de formación de ser gestor de su propio desarrollo en todas las dimensiones, a través de toda la vida, en razón a su cotidiana interacción con los demás y con el medio productivo. </a:t>
            </a:r>
            <a:endParaRPr sz="2400" b="0" i="0" u="none" strike="noStrike" cap="none">
              <a:solidFill>
                <a:srgbClr val="3F3F3F"/>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0"/>
          <p:cNvSpPr txBox="1"/>
          <p:nvPr/>
        </p:nvSpPr>
        <p:spPr>
          <a:xfrm>
            <a:off x="445625" y="457140"/>
            <a:ext cx="7783975" cy="415498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400" b="1" i="0" u="none" strike="noStrike" cap="none">
                <a:solidFill>
                  <a:schemeClr val="dk1"/>
                </a:solidFill>
                <a:latin typeface="Calibri"/>
                <a:ea typeface="Calibri"/>
                <a:cs typeface="Calibri"/>
                <a:sym typeface="Calibri"/>
              </a:rPr>
              <a:t>3. La Equidad Social: </a:t>
            </a:r>
            <a:r>
              <a:rPr lang="es-MX" sz="2400" b="0" i="0" u="none" strike="noStrike" cap="none">
                <a:solidFill>
                  <a:schemeClr val="dk1"/>
                </a:solidFill>
                <a:latin typeface="Calibri"/>
                <a:ea typeface="Calibri"/>
                <a:cs typeface="Calibri"/>
                <a:sym typeface="Calibri"/>
              </a:rPr>
              <a:t>Ofrece una gama de opciones formativas en condiciones adecuadas de acceso, permanencia o tránsito, según las posibilidades, inclinaciones y conveniencia de las personas de manera gratuita y oportuna. </a:t>
            </a: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1" i="0" u="none" strike="noStrike" cap="none">
                <a:solidFill>
                  <a:schemeClr val="dk1"/>
                </a:solidFill>
                <a:latin typeface="Calibri"/>
                <a:ea typeface="Calibri"/>
                <a:cs typeface="Calibri"/>
                <a:sym typeface="Calibri"/>
              </a:rPr>
              <a:t>4. La Integralidad: </a:t>
            </a:r>
            <a:r>
              <a:rPr lang="es-MX" sz="2400" b="0" i="0" u="none" strike="noStrike" cap="none">
                <a:solidFill>
                  <a:schemeClr val="dk1"/>
                </a:solidFill>
                <a:latin typeface="Calibri"/>
                <a:ea typeface="Calibri"/>
                <a:cs typeface="Calibri"/>
                <a:sym typeface="Calibri"/>
              </a:rPr>
              <a:t>Concibe la formación como un equilibrio entre lo tecnológico y lo social; comprende el obrar tecnológico en armonía con el entendimiento de la realidad social económica, política, cultural, estética, ambiental y del actuar práctico moral. </a:t>
            </a:r>
            <a:r>
              <a:rPr lang="es-MX" sz="2400" b="0" i="0" u="none" strike="noStrike" cap="none">
                <a:solidFill>
                  <a:srgbClr val="3F3F3F"/>
                </a:solidFill>
                <a:latin typeface="Calibri"/>
                <a:ea typeface="Calibri"/>
                <a:cs typeface="Calibri"/>
                <a:sym typeface="Calibri"/>
              </a:rPr>
              <a:t> </a:t>
            </a:r>
            <a:endParaRPr sz="2400" b="0" i="0" u="none" strike="noStrike" cap="none">
              <a:solidFill>
                <a:srgbClr val="3F3F3F"/>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1"/>
          <p:cNvSpPr txBox="1"/>
          <p:nvPr/>
        </p:nvSpPr>
        <p:spPr>
          <a:xfrm>
            <a:off x="445625" y="231369"/>
            <a:ext cx="8131215" cy="483209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2200" b="1" i="0" u="none" strike="noStrike" cap="none">
                <a:solidFill>
                  <a:srgbClr val="3F3F3F"/>
                </a:solidFill>
                <a:latin typeface="Calibri"/>
                <a:ea typeface="Calibri"/>
                <a:cs typeface="Calibri"/>
                <a:sym typeface="Calibri"/>
              </a:rPr>
              <a:t>OBJETIVOS DE LA FORMACIÓN PROFESIONAL INTEGRAL</a:t>
            </a:r>
            <a:endParaRPr/>
          </a:p>
          <a:p>
            <a:pPr marL="0" marR="0" lvl="0" indent="0" algn="just" rtl="0">
              <a:spcBef>
                <a:spcPts val="0"/>
              </a:spcBef>
              <a:spcAft>
                <a:spcPts val="0"/>
              </a:spcAft>
              <a:buNone/>
            </a:pPr>
            <a:endParaRPr sz="22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1. El Aprender a Aprender, que se orienta hacia el desarrollo de la originalidad, la creatividad, la capacidad crítica, el aprendizaje por procesos y la formación permanente.</a:t>
            </a:r>
            <a:endParaRPr/>
          </a:p>
          <a:p>
            <a:pPr marL="457200" marR="0" lvl="0" indent="-317500" algn="just" rtl="0">
              <a:spcBef>
                <a:spcPts val="0"/>
              </a:spcBef>
              <a:spcAft>
                <a:spcPts val="0"/>
              </a:spcAft>
              <a:buClr>
                <a:schemeClr val="dk1"/>
              </a:buClr>
              <a:buSzPts val="2200"/>
              <a:buFont typeface="Calibri"/>
              <a:buNone/>
            </a:pPr>
            <a:endParaRPr sz="22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2. El Aprender a Hacer, en el cual se involucra ciencia, tecnología y técnica, en función de un adecuado desempeño en el mundo de la producción. </a:t>
            </a:r>
            <a:endParaRPr/>
          </a:p>
          <a:p>
            <a:pPr marL="0" marR="0" lvl="0" indent="0" algn="just" rtl="0">
              <a:spcBef>
                <a:spcPts val="0"/>
              </a:spcBef>
              <a:spcAft>
                <a:spcPts val="0"/>
              </a:spcAft>
              <a:buNone/>
            </a:pPr>
            <a:endParaRPr sz="22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3. El Aprender a Ser, que se orienta al desarrollo de actitudes acordes con la dignidad de la persona y con su proyección solidaria hacia los demás y hacia el mundo. Dada la naturaleza de la Formación Profesional Integral, el eje de la misma es el Aprender a Hacer. </a:t>
            </a:r>
            <a:endParaRPr sz="2200" b="0" i="0" u="none" strike="noStrike" cap="none">
              <a:solidFill>
                <a:srgbClr val="3F3F3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2"/>
          <p:cNvSpPr txBox="1"/>
          <p:nvPr/>
        </p:nvSpPr>
        <p:spPr>
          <a:xfrm>
            <a:off x="445625" y="231369"/>
            <a:ext cx="8131215" cy="44627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2200" b="1" i="0" u="none" strike="noStrike" cap="none">
                <a:solidFill>
                  <a:srgbClr val="3F3F3F"/>
                </a:solidFill>
                <a:latin typeface="Calibri"/>
                <a:ea typeface="Calibri"/>
                <a:cs typeface="Calibri"/>
                <a:sym typeface="Calibri"/>
              </a:rPr>
              <a:t>ENFOQUE PARA DESARROLLO COMPETENCIAS</a:t>
            </a:r>
            <a:endParaRPr/>
          </a:p>
          <a:p>
            <a:pPr marL="0" marR="0" lvl="0" indent="0" algn="just" rtl="0">
              <a:spcBef>
                <a:spcPts val="0"/>
              </a:spcBef>
              <a:spcAft>
                <a:spcPts val="0"/>
              </a:spcAft>
              <a:buNone/>
            </a:pPr>
            <a:endParaRPr sz="22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El Enfoque para el Desarrollo de Competencias en el SENA se basa en una propuesta formativa de carácter humanista – cognitivo que de manera sistémica, flexible y permanente se hace presente en el proceso de enseñanza – aprendizaje – evaluación; busca el Desarrollo Humano Integral del Aprendiz a partir de la articulación entre lo tecnológico y lo social como medio para el desarrollo de procesos cognitivos, procedimentales y valorativo – actitudinales por parte del Aprendiz que le permitan actuar crítica y creativamente en el Mundo de la Vida. </a:t>
            </a:r>
            <a:endParaRPr sz="2200" b="0" i="0" u="none" strike="noStrike" cap="none">
              <a:solidFill>
                <a:srgbClr val="3F3F3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4"/>
          <p:cNvSpPr txBox="1"/>
          <p:nvPr/>
        </p:nvSpPr>
        <p:spPr>
          <a:xfrm>
            <a:off x="445625" y="983723"/>
            <a:ext cx="8131215" cy="267765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400" b="0" i="0" u="none" strike="noStrike" cap="none">
                <a:solidFill>
                  <a:schemeClr val="dk1"/>
                </a:solidFill>
                <a:latin typeface="Calibri"/>
                <a:ea typeface="Calibri"/>
                <a:cs typeface="Calibri"/>
                <a:sym typeface="Calibri"/>
              </a:rPr>
              <a:t>Las competencias se desarrollan de manera permanente en el proceso de enseñanza – aprendizaje – evaluación, su punto de partida lo constituye el proyecto de vida personal del Aprendiz, éstas se contextualizan en el marco de un Programa de Formación y se evidencian en los entornos sociales y productivos en donde el Aprendiz intervenga mediante sus desempeños. </a:t>
            </a:r>
            <a:endParaRPr sz="2200" b="0" i="0" u="none" strike="noStrike" cap="none">
              <a:solidFill>
                <a:srgbClr val="3F3F3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5"/>
          <p:cNvSpPr txBox="1"/>
          <p:nvPr/>
        </p:nvSpPr>
        <p:spPr>
          <a:xfrm>
            <a:off x="341452" y="494258"/>
            <a:ext cx="8131215" cy="415498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COMPETENCIAS:</a:t>
            </a:r>
            <a:endParaRPr/>
          </a:p>
          <a:p>
            <a:pPr marL="0" marR="0" lvl="0" indent="0" algn="just" rtl="0">
              <a:spcBef>
                <a:spcPts val="0"/>
              </a:spcBef>
              <a:spcAft>
                <a:spcPts val="0"/>
              </a:spcAft>
              <a:buNone/>
            </a:pPr>
            <a:endParaRPr sz="22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El concepto de competencia en el SENA se estructura con base en tres aspectos fundamentales coherentes con los principios de integralidad, equidad social, trabajo productivo y la formación permanente propios de la Formación Profesional Integral: </a:t>
            </a:r>
            <a:endParaRPr/>
          </a:p>
          <a:p>
            <a:pPr marL="0" marR="0" lvl="0" indent="0" algn="just" rtl="0">
              <a:spcBef>
                <a:spcPts val="0"/>
              </a:spcBef>
              <a:spcAft>
                <a:spcPts val="0"/>
              </a:spcAft>
              <a:buNone/>
            </a:pPr>
            <a:endParaRPr sz="22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1. Desarrollo Integral, en alusión al fortalecimiento de las dimensiones humanas del Aprendiz como persona, ciudadano y trabajador en formación (aprender a ser), gestor de su propio desarrollo, con capacidades para interactuar y aportar a la construcción de sociedad sobre la base de sólidos valores éticos. </a:t>
            </a:r>
            <a:endParaRPr sz="2200" b="0" i="0" u="none" strike="noStrike" cap="none">
              <a:solidFill>
                <a:srgbClr val="3F3F3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6"/>
          <p:cNvSpPr txBox="1"/>
          <p:nvPr/>
        </p:nvSpPr>
        <p:spPr>
          <a:xfrm>
            <a:off x="445626" y="494258"/>
            <a:ext cx="7899721" cy="415498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2. Proceso de construcción de conocimiento y el carácter social del mismo (aprender a aprender), lo cual exige del Aprendiz una actitud de empoderamiento de su proceso de aprendizaje, a partir del ejercicio de autonomía y de autogestión como oportunidades, que le brindan las estrategias didácticas de carácter activo propuestas por el SENA para el desarrollo del proceso de formación.</a:t>
            </a:r>
            <a:endParaRPr/>
          </a:p>
          <a:p>
            <a:pPr marL="0" marR="0" lvl="0" indent="0" algn="just" rtl="0">
              <a:spcBef>
                <a:spcPts val="0"/>
              </a:spcBef>
              <a:spcAft>
                <a:spcPts val="0"/>
              </a:spcAft>
              <a:buNone/>
            </a:pPr>
            <a:endParaRPr sz="22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3. Trabajo como escenario propicio para los desempeños, como condición ineludible del desarrollo de competencia, cuyo efecto se refleja en la transformación intencional del entorno físico y social, para lo cual requiere del desarrollo de las habilidades y destrezas (aprender a hacer) propias de la dimensión biofísica. </a:t>
            </a:r>
            <a:endParaRPr sz="2200" b="0" i="0" u="none" strike="noStrike" cap="none">
              <a:solidFill>
                <a:srgbClr val="3F3F3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7"/>
          <p:cNvSpPr txBox="1"/>
          <p:nvPr/>
        </p:nvSpPr>
        <p:spPr>
          <a:xfrm>
            <a:off x="734991" y="419598"/>
            <a:ext cx="7610356" cy="415498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400" b="1" i="0" u="none" strike="noStrike" cap="none">
                <a:solidFill>
                  <a:srgbClr val="3F3F3F"/>
                </a:solidFill>
                <a:latin typeface="Calibri"/>
                <a:ea typeface="Calibri"/>
                <a:cs typeface="Calibri"/>
                <a:sym typeface="Calibri"/>
              </a:rPr>
              <a:t>TAXONOMIA DE LAS COMPETENCIAS</a:t>
            </a:r>
            <a:endParaRPr/>
          </a:p>
          <a:p>
            <a:pPr marL="0" marR="0" lvl="0" indent="0" algn="just" rtl="0">
              <a:spcBef>
                <a:spcPts val="0"/>
              </a:spcBef>
              <a:spcAft>
                <a:spcPts val="0"/>
              </a:spcAft>
              <a:buNone/>
            </a:pPr>
            <a:endParaRPr sz="2400" b="1"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Son múltiples las clasificaciones de competencias que se conocen, cada una de ellas están sujetas al contexto en donde se implementan y los propósitos formativos que persigue cada institución educativa. En el caso del SENA, se adoptan tres tipos de competencias, así: </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457200" marR="0" lvl="0" indent="-457200" algn="just" rtl="0">
              <a:spcBef>
                <a:spcPts val="0"/>
              </a:spcBef>
              <a:spcAft>
                <a:spcPts val="0"/>
              </a:spcAft>
              <a:buClr>
                <a:srgbClr val="3F3F3F"/>
              </a:buClr>
              <a:buSzPts val="2400"/>
              <a:buFont typeface="Calibri"/>
              <a:buAutoNum type="arabicPeriod"/>
            </a:pPr>
            <a:r>
              <a:rPr lang="es-MX" sz="2400" b="0" i="0" u="none" strike="noStrike" cap="none">
                <a:solidFill>
                  <a:srgbClr val="3F3F3F"/>
                </a:solidFill>
                <a:latin typeface="Calibri"/>
                <a:ea typeface="Calibri"/>
                <a:cs typeface="Calibri"/>
                <a:sym typeface="Calibri"/>
              </a:rPr>
              <a:t>Competencias Especificas.</a:t>
            </a:r>
            <a:endParaRPr/>
          </a:p>
          <a:p>
            <a:pPr marL="457200" marR="0" lvl="0" indent="-457200" algn="just" rtl="0">
              <a:spcBef>
                <a:spcPts val="0"/>
              </a:spcBef>
              <a:spcAft>
                <a:spcPts val="0"/>
              </a:spcAft>
              <a:buClr>
                <a:srgbClr val="3F3F3F"/>
              </a:buClr>
              <a:buSzPts val="2400"/>
              <a:buFont typeface="Calibri"/>
              <a:buAutoNum type="arabicPeriod"/>
            </a:pPr>
            <a:r>
              <a:rPr lang="es-MX" sz="2400" b="0" i="0" u="none" strike="noStrike" cap="none">
                <a:solidFill>
                  <a:srgbClr val="3F3F3F"/>
                </a:solidFill>
                <a:latin typeface="Calibri"/>
                <a:ea typeface="Calibri"/>
                <a:cs typeface="Calibri"/>
                <a:sym typeface="Calibri"/>
              </a:rPr>
              <a:t>Competencias Básicas.</a:t>
            </a:r>
            <a:endParaRPr/>
          </a:p>
          <a:p>
            <a:pPr marL="457200" marR="0" lvl="0" indent="-457200" algn="just" rtl="0">
              <a:spcBef>
                <a:spcPts val="0"/>
              </a:spcBef>
              <a:spcAft>
                <a:spcPts val="0"/>
              </a:spcAft>
              <a:buClr>
                <a:srgbClr val="3F3F3F"/>
              </a:buClr>
              <a:buSzPts val="2400"/>
              <a:buFont typeface="Calibri"/>
              <a:buAutoNum type="arabicPeriod"/>
            </a:pPr>
            <a:r>
              <a:rPr lang="es-MX" sz="2400" b="0" i="0" u="none" strike="noStrike" cap="none">
                <a:solidFill>
                  <a:srgbClr val="3F3F3F"/>
                </a:solidFill>
                <a:latin typeface="Calibri"/>
                <a:ea typeface="Calibri"/>
                <a:cs typeface="Calibri"/>
                <a:sym typeface="Calibri"/>
              </a:rPr>
              <a:t>Competencias Transversales-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8"/>
          <p:cNvSpPr txBox="1"/>
          <p:nvPr/>
        </p:nvSpPr>
        <p:spPr>
          <a:xfrm>
            <a:off x="734991" y="419598"/>
            <a:ext cx="7610356" cy="4154984"/>
          </a:xfrm>
          <a:prstGeom prst="rect">
            <a:avLst/>
          </a:prstGeom>
          <a:noFill/>
          <a:ln>
            <a:noFill/>
          </a:ln>
        </p:spPr>
        <p:txBody>
          <a:bodyPr spcFirstLastPara="1" wrap="square" lIns="91425" tIns="45700" rIns="91425" bIns="45700" anchor="t" anchorCtr="0">
            <a:spAutoFit/>
          </a:bodyPr>
          <a:lstStyle/>
          <a:p>
            <a:pPr marL="457200" marR="0" lvl="0" indent="-457200" algn="just" rtl="0">
              <a:spcBef>
                <a:spcPts val="0"/>
              </a:spcBef>
              <a:spcAft>
                <a:spcPts val="0"/>
              </a:spcAft>
              <a:buClr>
                <a:srgbClr val="3F3F3F"/>
              </a:buClr>
              <a:buSzPts val="2400"/>
              <a:buFont typeface="Calibri"/>
              <a:buAutoNum type="arabicPeriod"/>
            </a:pPr>
            <a:r>
              <a:rPr lang="es-MX" sz="2400" b="0" i="0" u="none" strike="noStrike" cap="none">
                <a:solidFill>
                  <a:srgbClr val="3F3F3F"/>
                </a:solidFill>
                <a:latin typeface="Calibri"/>
                <a:ea typeface="Calibri"/>
                <a:cs typeface="Calibri"/>
                <a:sym typeface="Calibri"/>
              </a:rPr>
              <a:t>Competencias Especificas:</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Este concepto identifica el desempeño del Aprendiz en el contexto de una función productiva, la cual requiere para su ejecución de la aplicación de conocimientos técnico – tecnológicos que den respuesta pertinente a los requerimientos que en forma de estándares, establece el sector productivo, los que determinan las condiciones técnicas y de calidad requeridas en un desempeño satisfactorio. </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9"/>
          <p:cNvSpPr txBox="1"/>
          <p:nvPr/>
        </p:nvSpPr>
        <p:spPr>
          <a:xfrm>
            <a:off x="734991" y="419598"/>
            <a:ext cx="7610356" cy="378565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2. Competencias Básicas:</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Conjunto dinámico de capacidades para el desempeño en el mundo de la vida que facilitan a la persona su inserción y permanencia en el mundo del trabajo. Le permiten comprender, argumentar y resolver problemas tecnológicos, sociales y ambientales. Se desarrollan de modo permanente en el proceso de formación profesional y su nivel o grado de complejidad está asociado al nivel de exigencia requerido en el ámbito social o laboral</a:t>
            </a:r>
            <a:endParaRPr sz="2400" b="0" i="0" u="none" strike="noStrike" cap="none">
              <a:solidFill>
                <a:srgbClr val="3F3F3F"/>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0"/>
          <p:cNvSpPr txBox="1"/>
          <p:nvPr/>
        </p:nvSpPr>
        <p:spPr>
          <a:xfrm>
            <a:off x="734991" y="419598"/>
            <a:ext cx="7610356" cy="378565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3. Competencias Transversales:</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Con este nombre se agrupan todas aquellas competencias necesarias para complementar los desempeños sociales y/o laborales del Aprendiz; como su nombre lo indica son de carácter transversal; atraviesan las ocupaciones establecidas en la C.N.O. (Clasificación Nacional de Ocupaciones) y por lo tanto, todas y cada una de de las estructuras de los programas de formación dado que, no están enmarcadas en ninguna disciplina específica. </a:t>
            </a:r>
            <a:endParaRPr sz="2400" b="0" i="0" u="none" strike="noStrike" cap="none">
              <a:solidFill>
                <a:srgbClr val="3F3F3F"/>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1"/>
          <p:cNvSpPr txBox="1"/>
          <p:nvPr/>
        </p:nvSpPr>
        <p:spPr>
          <a:xfrm>
            <a:off x="555585" y="479058"/>
            <a:ext cx="7488819" cy="415498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2400" b="0" i="0" u="none" strike="noStrike" cap="none">
                <a:solidFill>
                  <a:srgbClr val="3F3F3F"/>
                </a:solidFill>
                <a:latin typeface="Calibri"/>
                <a:ea typeface="Calibri"/>
                <a:cs typeface="Calibri"/>
                <a:sym typeface="Calibri"/>
              </a:rPr>
              <a:t>PERFIL DEL APRENDIZ</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En cuanto al rol del aprendiz, cabe señalar su carácter activo y sus actitudes positivas frente al aprendizaje. Debe evidenciar un nivel alto de compromiso en relación con sus procesos de desarrollo. Poner en práctica altos niveles de autonomía, de espíritu crítico, de responsabilidad, de persistencia y de autodisciplina. En especial, desarrollar su capacidad para aprender de manera colaborativa con sus pares y para autoevaluar y auto-regular sus procesos de aprendizaje.</a:t>
            </a:r>
            <a:endParaRPr sz="2400" b="0" i="0" u="none" strike="noStrike" cap="none">
              <a:solidFill>
                <a:srgbClr val="3F3F3F"/>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2"/>
          <p:cNvSpPr txBox="1"/>
          <p:nvPr/>
        </p:nvSpPr>
        <p:spPr>
          <a:xfrm>
            <a:off x="555585" y="479058"/>
            <a:ext cx="7488819" cy="415498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2400" b="0" i="0" u="none" strike="noStrike" cap="none">
                <a:solidFill>
                  <a:srgbClr val="3F3F3F"/>
                </a:solidFill>
                <a:latin typeface="Calibri"/>
                <a:ea typeface="Calibri"/>
                <a:cs typeface="Calibri"/>
                <a:sym typeface="Calibri"/>
              </a:rPr>
              <a:t>PERFIL DEL INSTRUCTOR</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En el contexto pedagógico descrito al instructor le corresponde el rol de mediador de la cultura y promotor del aprendizaje y el desarrollo de los aprendices. El instructor en el SENA debe ser una persona reflexiva, autónoma, crítica, creativa, rigurosa y flexible. </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Ser modelo y ejemplo de vida para los aprendices y una persona en permanente proceso de mejoramiento personal y profesional. </a:t>
            </a:r>
            <a:endParaRPr sz="2400" b="0" i="0" u="none" strike="noStrike" cap="none">
              <a:solidFill>
                <a:srgbClr val="3F3F3F"/>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3"/>
          <p:cNvSpPr txBox="1"/>
          <p:nvPr/>
        </p:nvSpPr>
        <p:spPr>
          <a:xfrm>
            <a:off x="555585" y="124926"/>
            <a:ext cx="7488819" cy="489364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2400" b="0" i="0" u="none" strike="noStrike" cap="none">
                <a:solidFill>
                  <a:srgbClr val="3F3F3F"/>
                </a:solidFill>
                <a:latin typeface="Calibri"/>
                <a:ea typeface="Calibri"/>
                <a:cs typeface="Calibri"/>
                <a:sym typeface="Calibri"/>
              </a:rPr>
              <a:t>PERFIL DEL EGRESADO</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Toda persona que participe en procesos de Formación Profesional Integral desarrollará capacidades técnicas, intelectuales, sociales y cívicas que le permitan desempeñarse productivamente en su trabajo, comprender críticamente los procesos sociales y económicos de que es partícipe y generar actitudes y valores que fortalezcan su compromiso de responsabilidad frente a sí mismo, a la comunidad, al trabajo y a su medio ecológico, dentro de los lineamientos democráticos que consagran la Constitución Nacional y las Leyes de Colombia.</a:t>
            </a:r>
            <a:endParaRPr sz="2400" b="0" i="0" u="none" strike="noStrike" cap="none">
              <a:solidFill>
                <a:srgbClr val="3F3F3F"/>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4"/>
          <p:cNvSpPr txBox="1"/>
          <p:nvPr/>
        </p:nvSpPr>
        <p:spPr>
          <a:xfrm>
            <a:off x="555585" y="309592"/>
            <a:ext cx="7488819" cy="452431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2400" b="0" i="0" u="none" strike="noStrike" cap="none">
                <a:solidFill>
                  <a:srgbClr val="3F3F3F"/>
                </a:solidFill>
                <a:latin typeface="Calibri"/>
                <a:ea typeface="Calibri"/>
                <a:cs typeface="Calibri"/>
                <a:sym typeface="Calibri"/>
              </a:rPr>
              <a:t>MODALIDA DE FORMACIÓN</a:t>
            </a:r>
            <a:endParaRPr/>
          </a:p>
          <a:p>
            <a:pPr marL="0" marR="0" lvl="0" indent="0" algn="ctr"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457200" marR="0" lvl="0" indent="-457200" algn="just" rtl="0">
              <a:spcBef>
                <a:spcPts val="0"/>
              </a:spcBef>
              <a:spcAft>
                <a:spcPts val="0"/>
              </a:spcAft>
              <a:buClr>
                <a:srgbClr val="3F3F3F"/>
              </a:buClr>
              <a:buSzPts val="2400"/>
              <a:buFont typeface="Calibri"/>
              <a:buAutoNum type="arabicPeriod"/>
            </a:pPr>
            <a:r>
              <a:rPr lang="es-MX" sz="2400" b="0" i="0" u="none" strike="noStrike" cap="none">
                <a:solidFill>
                  <a:srgbClr val="3F3F3F"/>
                </a:solidFill>
                <a:latin typeface="Calibri"/>
                <a:ea typeface="Calibri"/>
                <a:cs typeface="Calibri"/>
                <a:sym typeface="Calibri"/>
              </a:rPr>
              <a:t>FORMACION TITULADA ABIERTA</a:t>
            </a:r>
            <a:endParaRPr/>
          </a:p>
          <a:p>
            <a:pPr marL="457200" marR="0" lvl="0" indent="-304800" algn="just" rtl="0">
              <a:spcBef>
                <a:spcPts val="0"/>
              </a:spcBef>
              <a:spcAft>
                <a:spcPts val="0"/>
              </a:spcAft>
              <a:buClr>
                <a:schemeClr val="dk1"/>
              </a:buClr>
              <a:buSzPts val="2400"/>
              <a:buFont typeface="Calibri"/>
              <a:buNone/>
            </a:pP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Se orienta al desarrollo de conocimientos técnicos, tecnológicos, de actitudes y de valores para la convivencia social, que le permiten a la persona desempeñarse en una actividad productiva. Comprende las actividades de formación, entrenamiento y reentrenamiento en temas específicos y que se caracteriza por que las acciones de formación conducen al otorgamiento de un título de profesional. </a:t>
            </a:r>
            <a:endParaRPr sz="2400" b="0" i="0" u="none" strike="noStrike" cap="none">
              <a:solidFill>
                <a:srgbClr val="3F3F3F"/>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5"/>
          <p:cNvSpPr txBox="1"/>
          <p:nvPr/>
        </p:nvSpPr>
        <p:spPr>
          <a:xfrm>
            <a:off x="555585" y="124926"/>
            <a:ext cx="7905509" cy="489364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2. FORMACION TITULADA CERRADA NO A LA MEDIDA</a:t>
            </a:r>
            <a:endParaRPr/>
          </a:p>
          <a:p>
            <a:pPr marL="457200" marR="0" lvl="0" indent="-304800" algn="just" rtl="0">
              <a:spcBef>
                <a:spcPts val="0"/>
              </a:spcBef>
              <a:spcAft>
                <a:spcPts val="0"/>
              </a:spcAft>
              <a:buClr>
                <a:schemeClr val="dk1"/>
              </a:buClr>
              <a:buSzPts val="2400"/>
              <a:buFont typeface="Calibri"/>
              <a:buNone/>
            </a:pP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Corresponde a los programas de formación en estado de ejecución del catálogo nacional, concertados con empresas, gremios, alcaldías u otras entidades para desarrollar acciones de formación dirigidas a personal vinculado, no vinculado a ellos, pero que garantizan su contrato de aprendizaje, lo cual asegura el desarrollo de la etapa práctica en su entorno laboral. Igualmente se considera oferta cerrada, los programas desarrollados en los convenios de Articulación con la Media, los de Ampliación de Cobertura y los programas desarrollados mediante convenios interinstitucionales (LINEAMIENTOS PLAN DE ACCION 2013 APRENDIZ SIGLO XXI).</a:t>
            </a:r>
            <a:endParaRPr sz="2400" b="0" i="0" u="none" strike="noStrike" cap="none">
              <a:solidFill>
                <a:srgbClr val="3F3F3F"/>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6"/>
          <p:cNvSpPr txBox="1"/>
          <p:nvPr/>
        </p:nvSpPr>
        <p:spPr>
          <a:xfrm>
            <a:off x="219919" y="324981"/>
            <a:ext cx="8264324" cy="449353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3. FORMACION TITULADA CERRADA A LA MEDIDA.</a:t>
            </a:r>
            <a:endParaRPr/>
          </a:p>
          <a:p>
            <a:pPr marL="0" marR="0" lvl="0" indent="0" algn="just" rtl="0">
              <a:spcBef>
                <a:spcPts val="0"/>
              </a:spcBef>
              <a:spcAft>
                <a:spcPts val="0"/>
              </a:spcAft>
              <a:buNone/>
            </a:pPr>
            <a:endParaRPr sz="22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Corresponde a aquellos que se estructuran y se diseñan con expertos de la empresa y de acuerdo con las necesidades específicas de una empresa, gremio, alcaldía u otra entidad y no hacen parte del catálogo nacional. Cuando el Centro de Formación que está realizando la concertación del diseño del programa a la medida por oportunidad en la respuesta, elaborará, teniendo como parámetros lo establecido en la Resolución 3139 de 2009, en cuanto a niveles y a la metodología de diseño; cuando se trate de programas de nivel tecnólogo deben cumplir con las condiciones de calidad establecidas para obtener el Registro Calificado (LINEAMIENTOS PLAN DE ACCION 2013 APRENDIZ SIGLO XXI).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7"/>
          <p:cNvSpPr txBox="1"/>
          <p:nvPr/>
        </p:nvSpPr>
        <p:spPr>
          <a:xfrm>
            <a:off x="451412" y="155704"/>
            <a:ext cx="7766612" cy="483209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4. FORMACION COMPLEMENTARIA.</a:t>
            </a:r>
            <a:endParaRPr/>
          </a:p>
          <a:p>
            <a:pPr marL="457200" marR="0" lvl="0" indent="-317500" algn="just" rtl="0">
              <a:spcBef>
                <a:spcPts val="0"/>
              </a:spcBef>
              <a:spcAft>
                <a:spcPts val="0"/>
              </a:spcAft>
              <a:buClr>
                <a:schemeClr val="dk1"/>
              </a:buClr>
              <a:buSzPts val="2200"/>
              <a:buFont typeface="Calibri"/>
              <a:buNone/>
            </a:pPr>
            <a:endParaRPr sz="22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Son acciones de formación que permiten el desarrollo de una o más competencias que habilitan a las personas para su desempeño laboral, orientada a dar respuesta a la demanda de: 1) Actualización del talento humano vinculado a una actividad económica y que requiera cualificar su desempeño actual o prepararse para asumir nuevos desempeños que le permitan una mayor movilidad y/o promoción laboral, 2) Calificación y recalificación del talento humano que se encuentre en situación de desempleo y poblaciones vulnerables y 3) Los aprendices del SENA, que buscan la complementariedad de la formación titulada. Incluye la formación complementaria virtual y a distancia (LINEAMIENTOS PLAN DE ACCION 2013 APRENDIZ SIGLO XXI).</a:t>
            </a:r>
            <a:endParaRPr sz="2200" b="0" i="0" u="none" strike="noStrike" cap="none">
              <a:solidFill>
                <a:srgbClr val="3F3F3F"/>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8"/>
          <p:cNvSpPr txBox="1"/>
          <p:nvPr/>
        </p:nvSpPr>
        <p:spPr>
          <a:xfrm>
            <a:off x="439837" y="121037"/>
            <a:ext cx="7465671" cy="44935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2200" b="1" i="0" u="none" strike="noStrike" cap="none">
                <a:solidFill>
                  <a:srgbClr val="3F3F3F"/>
                </a:solidFill>
                <a:latin typeface="Calibri"/>
                <a:ea typeface="Calibri"/>
                <a:cs typeface="Calibri"/>
                <a:sym typeface="Calibri"/>
              </a:rPr>
              <a:t>EVALAUCION DEL APRENDIZAJE.</a:t>
            </a:r>
            <a:endParaRPr/>
          </a:p>
          <a:p>
            <a:pPr marL="0" marR="0" lvl="0" indent="0" algn="just" rtl="0">
              <a:spcBef>
                <a:spcPts val="0"/>
              </a:spcBef>
              <a:spcAft>
                <a:spcPts val="0"/>
              </a:spcAft>
              <a:buNone/>
            </a:pPr>
            <a:endParaRPr sz="22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La Evaluación del Aprendizaje, es parte constitutiva de la formación y como tal se asume como un proceso de investigación en torno al Aprendiz en el cual él participa activamente para tomar decisiones frente al logro de su aprendizaje. </a:t>
            </a:r>
            <a:endParaRPr/>
          </a:p>
          <a:p>
            <a:pPr marL="0" marR="0" lvl="0" indent="0" algn="just" rtl="0">
              <a:spcBef>
                <a:spcPts val="0"/>
              </a:spcBef>
              <a:spcAft>
                <a:spcPts val="0"/>
              </a:spcAft>
              <a:buNone/>
            </a:pPr>
            <a:endParaRPr sz="22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Busca promover el espíritu investigativo, la autonomía personal, la creatividad y el ejercicio del criterio, se caracteriza por ser un proceso permanente, integral y participativo, mediante el cual se identifica la evolución y crecimiento del Aprendiz, teniendo en cuenta los tres saberes: el saber, el saber hacer y el saber ser. </a:t>
            </a:r>
            <a:endParaRPr sz="2200" b="0" i="0" u="none" strike="noStrike" cap="none">
              <a:solidFill>
                <a:srgbClr val="3F3F3F"/>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9"/>
          <p:cNvSpPr txBox="1"/>
          <p:nvPr/>
        </p:nvSpPr>
        <p:spPr>
          <a:xfrm>
            <a:off x="416688" y="678924"/>
            <a:ext cx="7650865" cy="378565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En el SENA cobra importancia la evaluación cualitativa del proceso de aprendizaje:</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1. Si el aprendiz alcanza todos los logros establecidos en el programa de formación, se registra con A = APROBADO.</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2. Cuando no alcanza todos los logros establecidos en el programa de formación, se registra con NA = NO APROBADO. </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p:nvPr/>
        </p:nvSpPr>
        <p:spPr>
          <a:xfrm>
            <a:off x="416688" y="309592"/>
            <a:ext cx="7928659" cy="452431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Por otra parte, las evidencias de aprendizaje son los referentes, a partir de las cuales se pueden identificar los logros alcanzados por los aprendices; pueden ser de Conocimiento, de Desempeño y de Producto, las cuales se relacionan estrechamente y de manera integral, con el saber, el saber hacer y el ser. Estas Evidencias se complementan entre sí, y en su conjunto permiten juzgar el aprendizaje del aprendiz, imprimiéndole el carácter integral a la evaluación. En este sentido, la Evaluación del Aprendizaje está dirigida, más que a evaluar el conocimiento teórico, a evaluar la aplicación de dicho conocimiento en prácticas reales con resultados concretos.</a:t>
            </a:r>
            <a:endParaRPr sz="2400" b="0" i="0" u="none" strike="noStrike" cap="none">
              <a:solidFill>
                <a:srgbClr val="3F3F3F"/>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1"/>
          <p:cNvSpPr txBox="1"/>
          <p:nvPr/>
        </p:nvSpPr>
        <p:spPr>
          <a:xfrm>
            <a:off x="509286" y="389557"/>
            <a:ext cx="7650865" cy="41549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2400" b="1" i="0" u="none" strike="noStrike" cap="none" dirty="0">
                <a:solidFill>
                  <a:srgbClr val="3F3F3F"/>
                </a:solidFill>
                <a:latin typeface="Calibri"/>
                <a:ea typeface="Calibri"/>
                <a:cs typeface="Calibri"/>
                <a:sym typeface="Calibri"/>
              </a:rPr>
              <a:t>EVIDENCIAS DE APRENDIZAJE</a:t>
            </a:r>
            <a:endParaRPr dirty="0"/>
          </a:p>
          <a:p>
            <a:pPr marL="0" marR="0" lvl="0" indent="0" algn="just" rtl="0">
              <a:spcBef>
                <a:spcPts val="0"/>
              </a:spcBef>
              <a:spcAft>
                <a:spcPts val="0"/>
              </a:spcAft>
              <a:buNone/>
            </a:pPr>
            <a:endParaRPr sz="2400" b="0" i="0" u="none" strike="noStrike" cap="none" dirty="0">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0" i="0" u="none" strike="noStrike" cap="none" dirty="0">
                <a:solidFill>
                  <a:srgbClr val="3F3F3F"/>
                </a:solidFill>
                <a:latin typeface="Calibri"/>
                <a:ea typeface="Calibri"/>
                <a:cs typeface="Calibri"/>
                <a:sym typeface="Calibri"/>
              </a:rPr>
              <a:t>Son los productos que el estudiante aporta durante el proceso formativo y que permiten comprobar los logros del aprendizaje. </a:t>
            </a:r>
            <a:endParaRPr dirty="0"/>
          </a:p>
          <a:p>
            <a:pPr marL="0" marR="0" lvl="0" indent="0" algn="just" rtl="0">
              <a:spcBef>
                <a:spcPts val="0"/>
              </a:spcBef>
              <a:spcAft>
                <a:spcPts val="0"/>
              </a:spcAft>
              <a:buNone/>
            </a:pPr>
            <a:r>
              <a:rPr lang="es-MX" sz="2400" b="0" i="0" u="none" strike="noStrike" cap="none" dirty="0">
                <a:solidFill>
                  <a:srgbClr val="3F3F3F"/>
                </a:solidFill>
                <a:latin typeface="Calibri"/>
                <a:ea typeface="Calibri"/>
                <a:cs typeface="Calibri"/>
                <a:sym typeface="Calibri"/>
              </a:rPr>
              <a:t> </a:t>
            </a:r>
            <a:endParaRPr dirty="0"/>
          </a:p>
          <a:p>
            <a:pPr marL="0" marR="0" lvl="0" indent="0" algn="just" rtl="0">
              <a:spcBef>
                <a:spcPts val="0"/>
              </a:spcBef>
              <a:spcAft>
                <a:spcPts val="0"/>
              </a:spcAft>
              <a:buNone/>
            </a:pPr>
            <a:r>
              <a:rPr lang="es-MX" sz="2400" b="0" i="0" u="none" strike="noStrike" cap="none" dirty="0">
                <a:solidFill>
                  <a:srgbClr val="3F3F3F"/>
                </a:solidFill>
                <a:latin typeface="Calibri"/>
                <a:ea typeface="Calibri"/>
                <a:cs typeface="Calibri"/>
                <a:sym typeface="Calibri"/>
              </a:rPr>
              <a:t>Las evidencias de aprendizaje pueden ser de: </a:t>
            </a:r>
            <a:endParaRPr dirty="0"/>
          </a:p>
          <a:p>
            <a:pPr marL="0" marR="0" lvl="0" indent="0" algn="just" rtl="0">
              <a:spcBef>
                <a:spcPts val="0"/>
              </a:spcBef>
              <a:spcAft>
                <a:spcPts val="0"/>
              </a:spcAft>
              <a:buNone/>
            </a:pPr>
            <a:endParaRPr sz="2400" b="0" i="0" u="none" strike="noStrike" cap="none" dirty="0">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0" i="0" u="none" strike="noStrike" cap="none" dirty="0">
                <a:solidFill>
                  <a:srgbClr val="3F3F3F"/>
                </a:solidFill>
                <a:latin typeface="Calibri"/>
                <a:ea typeface="Calibri"/>
                <a:cs typeface="Calibri"/>
                <a:sym typeface="Calibri"/>
              </a:rPr>
              <a:t>	SABER – SABER          EVIDENCIA DE CONOCIMEINTO</a:t>
            </a:r>
            <a:endParaRPr dirty="0"/>
          </a:p>
          <a:p>
            <a:pPr marL="0" marR="0" lvl="0" indent="0" algn="just" rtl="0">
              <a:spcBef>
                <a:spcPts val="0"/>
              </a:spcBef>
              <a:spcAft>
                <a:spcPts val="0"/>
              </a:spcAft>
              <a:buNone/>
            </a:pPr>
            <a:r>
              <a:rPr lang="es-MX" sz="2400" b="0" i="0" u="none" strike="noStrike" cap="none" dirty="0">
                <a:solidFill>
                  <a:srgbClr val="3F3F3F"/>
                </a:solidFill>
                <a:latin typeface="Calibri"/>
                <a:ea typeface="Calibri"/>
                <a:cs typeface="Calibri"/>
                <a:sym typeface="Calibri"/>
              </a:rPr>
              <a:t>	SABER – HACER             EVIDENCIA DE PRODUCTO</a:t>
            </a:r>
            <a:endParaRPr dirty="0"/>
          </a:p>
          <a:p>
            <a:pPr marL="0" marR="0" lvl="0" indent="0" algn="just" rtl="0">
              <a:spcBef>
                <a:spcPts val="0"/>
              </a:spcBef>
              <a:spcAft>
                <a:spcPts val="0"/>
              </a:spcAft>
              <a:buNone/>
            </a:pPr>
            <a:r>
              <a:rPr lang="es-MX" sz="2400" b="0" i="0" u="none" strike="noStrike" cap="none" dirty="0">
                <a:solidFill>
                  <a:srgbClr val="3F3F3F"/>
                </a:solidFill>
                <a:latin typeface="Calibri"/>
                <a:ea typeface="Calibri"/>
                <a:cs typeface="Calibri"/>
                <a:sym typeface="Calibri"/>
              </a:rPr>
              <a:t>	SABER – SER               EVIDENCIA DESEMPEÑO.</a:t>
            </a:r>
            <a:endParaRPr dirty="0"/>
          </a:p>
        </p:txBody>
      </p:sp>
      <p:sp>
        <p:nvSpPr>
          <p:cNvPr id="210" name="Google Shape;210;p31"/>
          <p:cNvSpPr/>
          <p:nvPr/>
        </p:nvSpPr>
        <p:spPr>
          <a:xfrm>
            <a:off x="3489767" y="3493213"/>
            <a:ext cx="397832" cy="101096"/>
          </a:xfrm>
          <a:prstGeom prst="rightArrow">
            <a:avLst>
              <a:gd name="adj1" fmla="val 50000"/>
              <a:gd name="adj2" fmla="val 50000"/>
            </a:avLst>
          </a:prstGeom>
          <a:solidFill>
            <a:schemeClr val="accent3"/>
          </a:solidFill>
          <a:ln w="25400" cap="flat" cmpd="sng">
            <a:solidFill>
              <a:srgbClr val="71884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1" name="Google Shape;211;p31"/>
          <p:cNvSpPr/>
          <p:nvPr/>
        </p:nvSpPr>
        <p:spPr>
          <a:xfrm>
            <a:off x="3569295" y="3841605"/>
            <a:ext cx="636608" cy="104172"/>
          </a:xfrm>
          <a:prstGeom prst="rightArrow">
            <a:avLst>
              <a:gd name="adj1" fmla="val 50000"/>
              <a:gd name="adj2" fmla="val 50000"/>
            </a:avLst>
          </a:prstGeom>
          <a:solidFill>
            <a:schemeClr val="accent3"/>
          </a:solidFill>
          <a:ln w="25400" cap="flat" cmpd="sng">
            <a:solidFill>
              <a:srgbClr val="71884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2" name="Google Shape;212;p31"/>
          <p:cNvSpPr/>
          <p:nvPr/>
        </p:nvSpPr>
        <p:spPr>
          <a:xfrm>
            <a:off x="3250991" y="4193052"/>
            <a:ext cx="636608" cy="104172"/>
          </a:xfrm>
          <a:prstGeom prst="rightArrow">
            <a:avLst>
              <a:gd name="adj1" fmla="val 50000"/>
              <a:gd name="adj2" fmla="val 50000"/>
            </a:avLst>
          </a:prstGeom>
          <a:solidFill>
            <a:schemeClr val="accent3"/>
          </a:solidFill>
          <a:ln w="25400" cap="flat" cmpd="sng">
            <a:solidFill>
              <a:srgbClr val="71884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2"/>
          <p:cNvSpPr txBox="1"/>
          <p:nvPr/>
        </p:nvSpPr>
        <p:spPr>
          <a:xfrm>
            <a:off x="509286" y="389557"/>
            <a:ext cx="7650865" cy="452431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400" b="1" i="0" u="none" strike="noStrike" cap="none">
                <a:solidFill>
                  <a:srgbClr val="3F3F3F"/>
                </a:solidFill>
                <a:latin typeface="Calibri"/>
                <a:ea typeface="Calibri"/>
                <a:cs typeface="Calibri"/>
                <a:sym typeface="Calibri"/>
              </a:rPr>
              <a:t>TECNICAS DE EVALUACIÓN</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457200" marR="0" lvl="0" indent="-457200" algn="just" rtl="0">
              <a:spcBef>
                <a:spcPts val="0"/>
              </a:spcBef>
              <a:spcAft>
                <a:spcPts val="0"/>
              </a:spcAft>
              <a:buClr>
                <a:srgbClr val="3F3F3F"/>
              </a:buClr>
              <a:buSzPts val="2400"/>
              <a:buFont typeface="Calibri"/>
              <a:buAutoNum type="arabicPeriod"/>
            </a:pPr>
            <a:r>
              <a:rPr lang="es-MX" sz="2400" b="0" i="0" u="none" strike="noStrike" cap="none">
                <a:solidFill>
                  <a:srgbClr val="3F3F3F"/>
                </a:solidFill>
                <a:latin typeface="Calibri"/>
                <a:ea typeface="Calibri"/>
                <a:cs typeface="Calibri"/>
                <a:sym typeface="Calibri"/>
              </a:rPr>
              <a:t>Observación </a:t>
            </a:r>
            <a:endParaRPr/>
          </a:p>
          <a:p>
            <a:pPr marL="457200" marR="0" lvl="0" indent="-457200" algn="just" rtl="0">
              <a:spcBef>
                <a:spcPts val="0"/>
              </a:spcBef>
              <a:spcAft>
                <a:spcPts val="0"/>
              </a:spcAft>
              <a:buClr>
                <a:srgbClr val="3F3F3F"/>
              </a:buClr>
              <a:buSzPts val="2400"/>
              <a:buFont typeface="Calibri"/>
              <a:buAutoNum type="arabicPeriod"/>
            </a:pPr>
            <a:r>
              <a:rPr lang="es-MX" sz="2400" b="0" i="0" u="none" strike="noStrike" cap="none">
                <a:solidFill>
                  <a:srgbClr val="3F3F3F"/>
                </a:solidFill>
                <a:latin typeface="Calibri"/>
                <a:ea typeface="Calibri"/>
                <a:cs typeface="Calibri"/>
                <a:sym typeface="Calibri"/>
              </a:rPr>
              <a:t>Simulación de situaciones </a:t>
            </a:r>
            <a:endParaRPr/>
          </a:p>
          <a:p>
            <a:pPr marL="457200" marR="0" lvl="0" indent="-457200" algn="just" rtl="0">
              <a:spcBef>
                <a:spcPts val="0"/>
              </a:spcBef>
              <a:spcAft>
                <a:spcPts val="0"/>
              </a:spcAft>
              <a:buClr>
                <a:srgbClr val="3F3F3F"/>
              </a:buClr>
              <a:buSzPts val="2400"/>
              <a:buFont typeface="Calibri"/>
              <a:buAutoNum type="arabicPeriod"/>
            </a:pPr>
            <a:r>
              <a:rPr lang="es-MX" sz="2400" b="0" i="0" u="none" strike="noStrike" cap="none">
                <a:solidFill>
                  <a:srgbClr val="3F3F3F"/>
                </a:solidFill>
                <a:latin typeface="Calibri"/>
                <a:ea typeface="Calibri"/>
                <a:cs typeface="Calibri"/>
                <a:sym typeface="Calibri"/>
              </a:rPr>
              <a:t>Valoración de producto </a:t>
            </a:r>
            <a:endParaRPr/>
          </a:p>
          <a:p>
            <a:pPr marL="457200" marR="0" lvl="0" indent="-457200" algn="just" rtl="0">
              <a:spcBef>
                <a:spcPts val="0"/>
              </a:spcBef>
              <a:spcAft>
                <a:spcPts val="0"/>
              </a:spcAft>
              <a:buClr>
                <a:srgbClr val="3F3F3F"/>
              </a:buClr>
              <a:buSzPts val="2400"/>
              <a:buFont typeface="Calibri"/>
              <a:buAutoNum type="arabicPeriod"/>
            </a:pPr>
            <a:r>
              <a:rPr lang="es-MX" sz="2400" b="0" i="0" u="none" strike="noStrike" cap="none">
                <a:solidFill>
                  <a:srgbClr val="3F3F3F"/>
                </a:solidFill>
                <a:latin typeface="Calibri"/>
                <a:ea typeface="Calibri"/>
                <a:cs typeface="Calibri"/>
                <a:sym typeface="Calibri"/>
              </a:rPr>
              <a:t>Formulación de preguntas </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1" i="0" u="none" strike="noStrike" cap="none">
                <a:solidFill>
                  <a:srgbClr val="3F3F3F"/>
                </a:solidFill>
                <a:latin typeface="Calibri"/>
                <a:ea typeface="Calibri"/>
                <a:cs typeface="Calibri"/>
                <a:sym typeface="Calibri"/>
              </a:rPr>
              <a:t>INSTRUMENTOS DE EVALUACION</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457200" marR="0" lvl="0" indent="-457200" algn="just" rtl="0">
              <a:spcBef>
                <a:spcPts val="0"/>
              </a:spcBef>
              <a:spcAft>
                <a:spcPts val="0"/>
              </a:spcAft>
              <a:buClr>
                <a:srgbClr val="3F3F3F"/>
              </a:buClr>
              <a:buSzPts val="2400"/>
              <a:buFont typeface="Calibri"/>
              <a:buAutoNum type="arabicPeriod"/>
            </a:pPr>
            <a:r>
              <a:rPr lang="es-MX" sz="2400" b="0" i="0" u="none" strike="noStrike" cap="none">
                <a:solidFill>
                  <a:srgbClr val="3F3F3F"/>
                </a:solidFill>
                <a:latin typeface="Calibri"/>
                <a:ea typeface="Calibri"/>
                <a:cs typeface="Calibri"/>
                <a:sym typeface="Calibri"/>
              </a:rPr>
              <a:t>Lista de chequeo producto</a:t>
            </a:r>
            <a:endParaRPr/>
          </a:p>
          <a:p>
            <a:pPr marL="457200" marR="0" lvl="0" indent="-457200" algn="just" rtl="0">
              <a:spcBef>
                <a:spcPts val="0"/>
              </a:spcBef>
              <a:spcAft>
                <a:spcPts val="0"/>
              </a:spcAft>
              <a:buClr>
                <a:srgbClr val="3F3F3F"/>
              </a:buClr>
              <a:buSzPts val="2400"/>
              <a:buFont typeface="Calibri"/>
              <a:buAutoNum type="arabicPeriod"/>
            </a:pPr>
            <a:r>
              <a:rPr lang="es-MX" sz="2400" b="0" i="0" u="none" strike="noStrike" cap="none">
                <a:solidFill>
                  <a:srgbClr val="3F3F3F"/>
                </a:solidFill>
                <a:latin typeface="Calibri"/>
                <a:ea typeface="Calibri"/>
                <a:cs typeface="Calibri"/>
                <a:sym typeface="Calibri"/>
              </a:rPr>
              <a:t>Lista chequeo de desempeño</a:t>
            </a:r>
            <a:endParaRPr/>
          </a:p>
          <a:p>
            <a:pPr marL="457200" marR="0" lvl="0" indent="-457200" algn="just" rtl="0">
              <a:spcBef>
                <a:spcPts val="0"/>
              </a:spcBef>
              <a:spcAft>
                <a:spcPts val="0"/>
              </a:spcAft>
              <a:buClr>
                <a:srgbClr val="3F3F3F"/>
              </a:buClr>
              <a:buSzPts val="2400"/>
              <a:buFont typeface="Calibri"/>
              <a:buAutoNum type="arabicPeriod"/>
            </a:pPr>
            <a:r>
              <a:rPr lang="es-MX" sz="2400" b="0" i="0" u="none" strike="noStrike" cap="none">
                <a:solidFill>
                  <a:srgbClr val="3F3F3F"/>
                </a:solidFill>
                <a:latin typeface="Calibri"/>
                <a:ea typeface="Calibri"/>
                <a:cs typeface="Calibri"/>
                <a:sym typeface="Calibri"/>
              </a:rPr>
              <a:t>Cuestionarios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3"/>
          <p:cNvSpPr txBox="1"/>
          <p:nvPr/>
        </p:nvSpPr>
        <p:spPr>
          <a:xfrm>
            <a:off x="862031" y="703768"/>
            <a:ext cx="7650865" cy="76944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s-MX" sz="4400" b="1" i="0" u="none" strike="noStrike" cap="none">
                <a:solidFill>
                  <a:srgbClr val="3F3F3F"/>
                </a:solidFill>
                <a:latin typeface="Calibri"/>
                <a:ea typeface="Calibri"/>
                <a:cs typeface="Calibri"/>
                <a:sym typeface="Calibri"/>
              </a:rPr>
              <a:t>FORMACIÓN POR PROYECTOS</a:t>
            </a:r>
            <a:endParaRPr/>
          </a:p>
        </p:txBody>
      </p:sp>
      <p:sp>
        <p:nvSpPr>
          <p:cNvPr id="223" name="Google Shape;223;p33"/>
          <p:cNvSpPr/>
          <p:nvPr/>
        </p:nvSpPr>
        <p:spPr>
          <a:xfrm>
            <a:off x="3545347" y="1491248"/>
            <a:ext cx="4932541" cy="45719"/>
          </a:xfrm>
          <a:prstGeom prst="rect">
            <a:avLst/>
          </a:prstGeom>
          <a:solidFill>
            <a:srgbClr val="FF66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24" name="Google Shape;224;p33"/>
          <p:cNvPicPr preferRelativeResize="0"/>
          <p:nvPr/>
        </p:nvPicPr>
        <p:blipFill rotWithShape="1">
          <a:blip r:embed="rId3">
            <a:alphaModFix/>
          </a:blip>
          <a:srcRect/>
          <a:stretch/>
        </p:blipFill>
        <p:spPr>
          <a:xfrm>
            <a:off x="862031" y="1888482"/>
            <a:ext cx="7886700" cy="30003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4"/>
          <p:cNvSpPr txBox="1"/>
          <p:nvPr/>
        </p:nvSpPr>
        <p:spPr>
          <a:xfrm>
            <a:off x="515818" y="631419"/>
            <a:ext cx="7697100" cy="409440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s-MX" sz="2000" b="0" i="0" u="none" strike="noStrike" cap="none">
                <a:solidFill>
                  <a:srgbClr val="3F3F3F"/>
                </a:solidFill>
                <a:latin typeface="Calibri"/>
                <a:ea typeface="Calibri"/>
                <a:cs typeface="Calibri"/>
                <a:sym typeface="Calibri"/>
              </a:rPr>
              <a:t>FORMACIÓN POR PROYECTOS</a:t>
            </a:r>
            <a:endParaRPr/>
          </a:p>
          <a:p>
            <a:pPr marL="0" marR="0" lvl="0" indent="0" algn="just" rtl="0">
              <a:lnSpc>
                <a:spcPct val="150000"/>
              </a:lnSpc>
              <a:spcBef>
                <a:spcPts val="0"/>
              </a:spcBef>
              <a:spcAft>
                <a:spcPts val="0"/>
              </a:spcAft>
              <a:buNone/>
            </a:pPr>
            <a:endParaRPr sz="2000" b="0" i="0" u="none" strike="noStrike" cap="none">
              <a:solidFill>
                <a:srgbClr val="3F3F3F"/>
              </a:solidFill>
              <a:latin typeface="Calibri"/>
              <a:ea typeface="Calibri"/>
              <a:cs typeface="Calibri"/>
              <a:sym typeface="Calibri"/>
            </a:endParaRPr>
          </a:p>
          <a:p>
            <a:pPr marL="0" marR="0" lvl="0" indent="0" algn="just" rtl="0">
              <a:lnSpc>
                <a:spcPct val="150000"/>
              </a:lnSpc>
              <a:spcBef>
                <a:spcPts val="0"/>
              </a:spcBef>
              <a:spcAft>
                <a:spcPts val="0"/>
              </a:spcAft>
              <a:buNone/>
            </a:pPr>
            <a:r>
              <a:rPr lang="es-MX" sz="2000" b="0" i="0" u="none" strike="noStrike" cap="none">
                <a:solidFill>
                  <a:srgbClr val="333333"/>
                </a:solidFill>
                <a:latin typeface="Calibri"/>
                <a:ea typeface="Calibri"/>
                <a:cs typeface="Calibri"/>
                <a:sym typeface="Calibri"/>
              </a:rPr>
              <a:t>Estrategia didáctica general mediante la cual se busca formar al menos una competencia, buscando que los aprendices en el transcurso de un período académico (trimestre, cuatrimestre, año, etc.) realicen un proyecto, y como resultado final presenten un producto que tenga significación para los aprendices y sea relevante en la actuación profesional</a:t>
            </a:r>
            <a:r>
              <a:rPr lang="es-MX" sz="2000" b="0" i="0" u="none" strike="noStrike" cap="none">
                <a:solidFill>
                  <a:srgbClr val="3F3F3F"/>
                </a:solidFill>
                <a:latin typeface="Calibri"/>
                <a:ea typeface="Calibri"/>
                <a:cs typeface="Calibri"/>
                <a:sym typeface="Calibri"/>
              </a:rPr>
              <a:t> </a:t>
            </a:r>
            <a:endParaRPr/>
          </a:p>
          <a:p>
            <a:pPr marL="0" marR="0" lvl="0" indent="0" algn="just" rtl="0">
              <a:lnSpc>
                <a:spcPct val="150000"/>
              </a:lnSpc>
              <a:spcBef>
                <a:spcPts val="0"/>
              </a:spcBef>
              <a:spcAft>
                <a:spcPts val="0"/>
              </a:spcAft>
              <a:buNone/>
            </a:pPr>
            <a:endParaRPr sz="2000" b="0" i="0" u="none" strike="noStrike" cap="none">
              <a:solidFill>
                <a:srgbClr val="3F3F3F"/>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5"/>
          <p:cNvSpPr txBox="1"/>
          <p:nvPr/>
        </p:nvSpPr>
        <p:spPr>
          <a:xfrm>
            <a:off x="445625" y="283518"/>
            <a:ext cx="8131215" cy="378565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400" b="0" i="0" u="none" strike="noStrike" cap="none">
                <a:solidFill>
                  <a:srgbClr val="333333"/>
                </a:solidFill>
                <a:latin typeface="Calibri"/>
                <a:ea typeface="Calibri"/>
                <a:cs typeface="Calibri"/>
                <a:sym typeface="Calibri"/>
              </a:rPr>
              <a:t>El aprendizaje por proyectos, como acción estratégica </a:t>
            </a:r>
            <a:endParaRPr/>
          </a:p>
          <a:p>
            <a:pPr marL="0" marR="0" lvl="0" indent="0" algn="just" rtl="0">
              <a:spcBef>
                <a:spcPts val="0"/>
              </a:spcBef>
              <a:spcAft>
                <a:spcPts val="0"/>
              </a:spcAft>
              <a:buNone/>
            </a:pPr>
            <a:r>
              <a:rPr lang="es-MX" sz="2400" b="0" i="0" u="none" strike="noStrike" cap="none">
                <a:solidFill>
                  <a:srgbClr val="333333"/>
                </a:solidFill>
                <a:latin typeface="Calibri"/>
                <a:ea typeface="Calibri"/>
                <a:cs typeface="Calibri"/>
                <a:sym typeface="Calibri"/>
              </a:rPr>
              <a:t>institucional, tiene como propósito el fortalecimiento de la </a:t>
            </a:r>
            <a:endParaRPr/>
          </a:p>
          <a:p>
            <a:pPr marL="0" marR="0" lvl="0" indent="0" algn="just" rtl="0">
              <a:spcBef>
                <a:spcPts val="0"/>
              </a:spcBef>
              <a:spcAft>
                <a:spcPts val="0"/>
              </a:spcAft>
              <a:buNone/>
            </a:pPr>
            <a:r>
              <a:rPr lang="es-MX" sz="2400" b="0" i="0" u="none" strike="noStrike" cap="none">
                <a:solidFill>
                  <a:srgbClr val="333333"/>
                </a:solidFill>
                <a:latin typeface="Calibri"/>
                <a:ea typeface="Calibri"/>
                <a:cs typeface="Calibri"/>
                <a:sym typeface="Calibri"/>
              </a:rPr>
              <a:t>estrategia metodológica institucional y la incorporación de las </a:t>
            </a:r>
            <a:endParaRPr/>
          </a:p>
          <a:p>
            <a:pPr marL="0" marR="0" lvl="0" indent="0" algn="just" rtl="0">
              <a:spcBef>
                <a:spcPts val="0"/>
              </a:spcBef>
              <a:spcAft>
                <a:spcPts val="0"/>
              </a:spcAft>
              <a:buNone/>
            </a:pPr>
            <a:r>
              <a:rPr lang="es-MX" sz="2400" b="0" i="0" u="none" strike="noStrike" cap="none">
                <a:solidFill>
                  <a:srgbClr val="333333"/>
                </a:solidFill>
                <a:latin typeface="Calibri"/>
                <a:ea typeface="Calibri"/>
                <a:cs typeface="Calibri"/>
                <a:sym typeface="Calibri"/>
              </a:rPr>
              <a:t>cuatro fuentes de conocimiento: </a:t>
            </a:r>
            <a:endParaRPr/>
          </a:p>
          <a:p>
            <a:pPr marL="0" marR="0" lvl="0" indent="0" algn="just" rtl="0">
              <a:spcBef>
                <a:spcPts val="0"/>
              </a:spcBef>
              <a:spcAft>
                <a:spcPts val="0"/>
              </a:spcAft>
              <a:buNone/>
            </a:pPr>
            <a:r>
              <a:rPr lang="es-MX" sz="2400" b="0" i="0" u="none" strike="noStrike" cap="none">
                <a:solidFill>
                  <a:srgbClr val="333333"/>
                </a:solidFill>
                <a:latin typeface="Calibri"/>
                <a:ea typeface="Calibri"/>
                <a:cs typeface="Calibri"/>
                <a:sym typeface="Calibri"/>
              </a:rPr>
              <a:t> </a:t>
            </a:r>
            <a:endParaRPr/>
          </a:p>
          <a:p>
            <a:pPr marL="0" marR="0" lvl="0" indent="0" algn="just" rtl="0">
              <a:spcBef>
                <a:spcPts val="0"/>
              </a:spcBef>
              <a:spcAft>
                <a:spcPts val="0"/>
              </a:spcAft>
              <a:buNone/>
            </a:pPr>
            <a:r>
              <a:rPr lang="es-MX" sz="2400" b="0" i="0" u="none" strike="noStrike" cap="none">
                <a:solidFill>
                  <a:srgbClr val="333333"/>
                </a:solidFill>
                <a:latin typeface="Calibri"/>
                <a:ea typeface="Calibri"/>
                <a:cs typeface="Calibri"/>
                <a:sym typeface="Calibri"/>
              </a:rPr>
              <a:t>• Instructor – Tutor </a:t>
            </a:r>
            <a:endParaRPr/>
          </a:p>
          <a:p>
            <a:pPr marL="0" marR="0" lvl="0" indent="0" algn="just" rtl="0">
              <a:spcBef>
                <a:spcPts val="0"/>
              </a:spcBef>
              <a:spcAft>
                <a:spcPts val="0"/>
              </a:spcAft>
              <a:buNone/>
            </a:pPr>
            <a:r>
              <a:rPr lang="es-MX" sz="2400" b="0" i="0" u="none" strike="noStrike" cap="none">
                <a:solidFill>
                  <a:srgbClr val="333333"/>
                </a:solidFill>
                <a:latin typeface="Calibri"/>
                <a:ea typeface="Calibri"/>
                <a:cs typeface="Calibri"/>
                <a:sym typeface="Calibri"/>
              </a:rPr>
              <a:t>• Trabajo colaborativo  </a:t>
            </a:r>
            <a:endParaRPr/>
          </a:p>
          <a:p>
            <a:pPr marL="0" marR="0" lvl="0" indent="0" algn="just" rtl="0">
              <a:spcBef>
                <a:spcPts val="0"/>
              </a:spcBef>
              <a:spcAft>
                <a:spcPts val="0"/>
              </a:spcAft>
              <a:buNone/>
            </a:pPr>
            <a:r>
              <a:rPr lang="es-MX" sz="2400" b="0" i="0" u="none" strike="noStrike" cap="none">
                <a:solidFill>
                  <a:srgbClr val="333333"/>
                </a:solidFill>
                <a:latin typeface="Calibri"/>
                <a:ea typeface="Calibri"/>
                <a:cs typeface="Calibri"/>
                <a:sym typeface="Calibri"/>
              </a:rPr>
              <a:t>• Entorno </a:t>
            </a:r>
            <a:endParaRPr/>
          </a:p>
          <a:p>
            <a:pPr marL="0" marR="0" lvl="0" indent="0" algn="just" rtl="0">
              <a:spcBef>
                <a:spcPts val="0"/>
              </a:spcBef>
              <a:spcAft>
                <a:spcPts val="0"/>
              </a:spcAft>
              <a:buNone/>
            </a:pPr>
            <a:r>
              <a:rPr lang="es-MX" sz="2400" b="0" i="0" u="none" strike="noStrike" cap="none">
                <a:solidFill>
                  <a:srgbClr val="333333"/>
                </a:solidFill>
                <a:latin typeface="Calibri"/>
                <a:ea typeface="Calibri"/>
                <a:cs typeface="Calibri"/>
                <a:sym typeface="Calibri"/>
              </a:rPr>
              <a:t>• Tecnologías de la información  y la comunicación. TIC </a:t>
            </a:r>
            <a:endParaRPr/>
          </a:p>
          <a:p>
            <a:pPr marL="0" marR="0" lvl="0" indent="0" algn="just" rtl="0">
              <a:spcBef>
                <a:spcPts val="0"/>
              </a:spcBef>
              <a:spcAft>
                <a:spcPts val="0"/>
              </a:spcAft>
              <a:buNone/>
            </a:pPr>
            <a:r>
              <a:rPr lang="es-MX" sz="2400" b="0" i="0" u="none" strike="noStrike" cap="none">
                <a:solidFill>
                  <a:srgbClr val="333333"/>
                </a:solidFill>
                <a:latin typeface="Calibri"/>
                <a:ea typeface="Calibri"/>
                <a:cs typeface="Calibri"/>
                <a:sym typeface="Calibri"/>
              </a:rPr>
              <a:t> </a:t>
            </a:r>
            <a:endParaRPr sz="2400" b="0" i="0" u="none" strike="noStrike" cap="none">
              <a:solidFill>
                <a:srgbClr val="3F3F3F"/>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6"/>
          <p:cNvSpPr txBox="1"/>
          <p:nvPr/>
        </p:nvSpPr>
        <p:spPr>
          <a:xfrm>
            <a:off x="347240" y="271507"/>
            <a:ext cx="8113854" cy="44935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2200" b="1" i="0" u="none" strike="noStrike" cap="none">
                <a:solidFill>
                  <a:srgbClr val="3F3F3F"/>
                </a:solidFill>
                <a:latin typeface="Calibri"/>
                <a:ea typeface="Calibri"/>
                <a:cs typeface="Calibri"/>
                <a:sym typeface="Calibri"/>
              </a:rPr>
              <a:t>ROL DEL INSTRUCTOR</a:t>
            </a:r>
            <a:endParaRPr/>
          </a:p>
          <a:p>
            <a:pPr marL="0" marR="0" lvl="0" indent="0" algn="just" rtl="0">
              <a:spcBef>
                <a:spcPts val="0"/>
              </a:spcBef>
              <a:spcAft>
                <a:spcPts val="0"/>
              </a:spcAft>
              <a:buNone/>
            </a:pPr>
            <a:endParaRPr sz="22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endParaRPr sz="2200" b="0" i="0" u="none" strike="noStrike" cap="none">
              <a:solidFill>
                <a:srgbClr val="3F3F3F"/>
              </a:solidFill>
              <a:latin typeface="Calibri"/>
              <a:ea typeface="Calibri"/>
              <a:cs typeface="Calibri"/>
              <a:sym typeface="Calibri"/>
            </a:endParaRPr>
          </a:p>
          <a:p>
            <a:pPr marL="342900" marR="0" lvl="0" indent="-342900" algn="just" rtl="0">
              <a:spcBef>
                <a:spcPts val="0"/>
              </a:spcBef>
              <a:spcAft>
                <a:spcPts val="0"/>
              </a:spcAft>
              <a:buClr>
                <a:srgbClr val="3F3F3F"/>
              </a:buClr>
              <a:buSzPts val="2200"/>
              <a:buFont typeface="Calibri"/>
              <a:buAutoNum type="arabicPeriod"/>
            </a:pPr>
            <a:r>
              <a:rPr lang="es-MX" sz="2200" b="0" i="0" u="none" strike="noStrike" cap="none">
                <a:solidFill>
                  <a:srgbClr val="3F3F3F"/>
                </a:solidFill>
                <a:latin typeface="Calibri"/>
                <a:ea typeface="Calibri"/>
                <a:cs typeface="Calibri"/>
                <a:sym typeface="Calibri"/>
              </a:rPr>
              <a:t>El aprendizaje pasa de las manos del tutor a las del aprendiz, de tal manera que éste pueda hacerse cargo de su propio aprendizaje.</a:t>
            </a:r>
            <a:endParaRPr/>
          </a:p>
          <a:p>
            <a:pPr marL="342900" marR="0" lvl="0" indent="-342900" algn="just" rtl="0">
              <a:spcBef>
                <a:spcPts val="0"/>
              </a:spcBef>
              <a:spcAft>
                <a:spcPts val="0"/>
              </a:spcAft>
              <a:buClr>
                <a:srgbClr val="3F3F3F"/>
              </a:buClr>
              <a:buSzPts val="2200"/>
              <a:buFont typeface="Calibri"/>
              <a:buAutoNum type="arabicPeriod"/>
            </a:pPr>
            <a:r>
              <a:rPr lang="es-MX" sz="2200" b="0" i="0" u="none" strike="noStrike" cap="none">
                <a:solidFill>
                  <a:srgbClr val="3F3F3F"/>
                </a:solidFill>
                <a:latin typeface="Calibri"/>
                <a:ea typeface="Calibri"/>
                <a:cs typeface="Calibri"/>
                <a:sym typeface="Calibri"/>
              </a:rPr>
              <a:t>Continuamente monitorea la aplicación en el salón de clase, observando qué funcionó y qué no.</a:t>
            </a:r>
            <a:endParaRPr/>
          </a:p>
          <a:p>
            <a:pPr marL="342900" marR="0" lvl="0" indent="-342900" algn="just" rtl="0">
              <a:spcBef>
                <a:spcPts val="0"/>
              </a:spcBef>
              <a:spcAft>
                <a:spcPts val="0"/>
              </a:spcAft>
              <a:buClr>
                <a:srgbClr val="3F3F3F"/>
              </a:buClr>
              <a:buSzPts val="2200"/>
              <a:buFont typeface="Calibri"/>
              <a:buAutoNum type="arabicPeriod"/>
            </a:pPr>
            <a:r>
              <a:rPr lang="es-MX" sz="2200" b="0" i="0" u="none" strike="noStrike" cap="none">
                <a:solidFill>
                  <a:srgbClr val="3F3F3F"/>
                </a:solidFill>
                <a:latin typeface="Calibri"/>
                <a:ea typeface="Calibri"/>
                <a:cs typeface="Calibri"/>
                <a:sym typeface="Calibri"/>
              </a:rPr>
              <a:t>Se vuelve aprendiz al aprender cómo los aprendices aprenden.</a:t>
            </a:r>
            <a:endParaRPr/>
          </a:p>
          <a:p>
            <a:pPr marL="342900" marR="0" lvl="0" indent="-342900" algn="just" rtl="0">
              <a:spcBef>
                <a:spcPts val="0"/>
              </a:spcBef>
              <a:spcAft>
                <a:spcPts val="0"/>
              </a:spcAft>
              <a:buClr>
                <a:srgbClr val="3F3F3F"/>
              </a:buClr>
              <a:buSzPts val="2200"/>
              <a:buFont typeface="Calibri"/>
              <a:buAutoNum type="arabicPeriod"/>
            </a:pPr>
            <a:r>
              <a:rPr lang="es-MX" sz="2200" b="0" i="0" u="none" strike="noStrike" cap="none">
                <a:solidFill>
                  <a:srgbClr val="3F3F3F"/>
                </a:solidFill>
                <a:latin typeface="Calibri"/>
                <a:ea typeface="Calibri"/>
                <a:cs typeface="Calibri"/>
                <a:sym typeface="Calibri"/>
              </a:rPr>
              <a:t>Asesor del proceso formativo.</a:t>
            </a:r>
            <a:endParaRPr/>
          </a:p>
          <a:p>
            <a:pPr marL="342900" marR="0" lvl="0" indent="-342900" algn="just" rtl="0">
              <a:spcBef>
                <a:spcPts val="0"/>
              </a:spcBef>
              <a:spcAft>
                <a:spcPts val="0"/>
              </a:spcAft>
              <a:buClr>
                <a:srgbClr val="3F3F3F"/>
              </a:buClr>
              <a:buSzPts val="2200"/>
              <a:buFont typeface="Calibri"/>
              <a:buAutoNum type="arabicPeriod"/>
            </a:pPr>
            <a:r>
              <a:rPr lang="es-MX" sz="2200" b="0" i="0" u="none" strike="noStrike" cap="none">
                <a:solidFill>
                  <a:srgbClr val="3F3F3F"/>
                </a:solidFill>
                <a:latin typeface="Calibri"/>
                <a:ea typeface="Calibri"/>
                <a:cs typeface="Calibri"/>
                <a:sym typeface="Calibri"/>
              </a:rPr>
              <a:t>Proveedor de recursos y participante de las actividades de aprendizaje.</a:t>
            </a:r>
            <a:endParaRPr/>
          </a:p>
          <a:p>
            <a:pPr marL="342900" marR="0" lvl="0" indent="-342900" algn="just" rtl="0">
              <a:spcBef>
                <a:spcPts val="0"/>
              </a:spcBef>
              <a:spcAft>
                <a:spcPts val="0"/>
              </a:spcAft>
              <a:buClr>
                <a:srgbClr val="3F3F3F"/>
              </a:buClr>
              <a:buSzPts val="2200"/>
              <a:buFont typeface="Calibri"/>
              <a:buAutoNum type="arabicPeriod"/>
            </a:pPr>
            <a:r>
              <a:rPr lang="es-MX" sz="2200" b="0" i="0" u="none" strike="noStrike" cap="none">
                <a:solidFill>
                  <a:srgbClr val="3F3F3F"/>
                </a:solidFill>
                <a:latin typeface="Calibri"/>
                <a:ea typeface="Calibri"/>
                <a:cs typeface="Calibri"/>
                <a:sym typeface="Calibri"/>
              </a:rPr>
              <a:t>Deja de pensar que tiene que hacerlo todo y da a sus aprendices la parte más importante.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7"/>
          <p:cNvSpPr txBox="1"/>
          <p:nvPr/>
        </p:nvSpPr>
        <p:spPr>
          <a:xfrm>
            <a:off x="347240" y="242072"/>
            <a:ext cx="8113854" cy="483209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2200" b="1" i="0" u="none" strike="noStrike" cap="none">
                <a:solidFill>
                  <a:srgbClr val="3F3F3F"/>
                </a:solidFill>
                <a:latin typeface="Calibri"/>
                <a:ea typeface="Calibri"/>
                <a:cs typeface="Calibri"/>
                <a:sym typeface="Calibri"/>
              </a:rPr>
              <a:t>ROL DEL APRENDIZ</a:t>
            </a:r>
            <a:endParaRPr/>
          </a:p>
          <a:p>
            <a:pPr marL="0" marR="0" lvl="0" indent="0" algn="just" rtl="0">
              <a:spcBef>
                <a:spcPts val="0"/>
              </a:spcBef>
              <a:spcAft>
                <a:spcPts val="0"/>
              </a:spcAft>
              <a:buNone/>
            </a:pPr>
            <a:endParaRPr sz="2200" b="0" i="0" u="none" strike="noStrike" cap="none">
              <a:solidFill>
                <a:srgbClr val="3F3F3F"/>
              </a:solidFill>
              <a:latin typeface="Calibri"/>
              <a:ea typeface="Calibri"/>
              <a:cs typeface="Calibri"/>
              <a:sym typeface="Calibri"/>
            </a:endParaRPr>
          </a:p>
          <a:p>
            <a:pPr marL="457200" marR="0" lvl="0" indent="-457200" algn="just" rtl="0">
              <a:spcBef>
                <a:spcPts val="0"/>
              </a:spcBef>
              <a:spcAft>
                <a:spcPts val="0"/>
              </a:spcAft>
              <a:buClr>
                <a:srgbClr val="3F3F3F"/>
              </a:buClr>
              <a:buSzPts val="2200"/>
              <a:buFont typeface="Calibri"/>
              <a:buAutoNum type="arabicPeriod"/>
            </a:pPr>
            <a:r>
              <a:rPr lang="es-MX" sz="2200" b="0" i="0" u="none" strike="noStrike" cap="none">
                <a:solidFill>
                  <a:srgbClr val="3F3F3F"/>
                </a:solidFill>
                <a:latin typeface="Calibri"/>
                <a:ea typeface="Calibri"/>
                <a:cs typeface="Calibri"/>
                <a:sym typeface="Calibri"/>
              </a:rPr>
              <a:t>Se sienta más motivado, ya que él es quien resuelve los problemas, planea y dirige su propio proyecto.</a:t>
            </a:r>
            <a:endParaRPr/>
          </a:p>
          <a:p>
            <a:pPr marL="457200" marR="0" lvl="0" indent="-457200" algn="just" rtl="0">
              <a:spcBef>
                <a:spcPts val="0"/>
              </a:spcBef>
              <a:spcAft>
                <a:spcPts val="0"/>
              </a:spcAft>
              <a:buClr>
                <a:srgbClr val="3F3F3F"/>
              </a:buClr>
              <a:buSzPts val="2200"/>
              <a:buFont typeface="Calibri"/>
              <a:buAutoNum type="arabicPeriod"/>
            </a:pPr>
            <a:r>
              <a:rPr lang="es-MX" sz="2200" b="0" i="0" u="none" strike="noStrike" cap="none">
                <a:solidFill>
                  <a:srgbClr val="3F3F3F"/>
                </a:solidFill>
                <a:latin typeface="Calibri"/>
                <a:ea typeface="Calibri"/>
                <a:cs typeface="Calibri"/>
                <a:sym typeface="Calibri"/>
              </a:rPr>
              <a:t>Dirija por sí mismo las actividades de aprendizaje.</a:t>
            </a:r>
            <a:endParaRPr/>
          </a:p>
          <a:p>
            <a:pPr marL="457200" marR="0" lvl="0" indent="-457200" algn="just" rtl="0">
              <a:spcBef>
                <a:spcPts val="0"/>
              </a:spcBef>
              <a:spcAft>
                <a:spcPts val="0"/>
              </a:spcAft>
              <a:buClr>
                <a:srgbClr val="3F3F3F"/>
              </a:buClr>
              <a:buSzPts val="2200"/>
              <a:buFont typeface="Calibri"/>
              <a:buAutoNum type="arabicPeriod"/>
            </a:pPr>
            <a:r>
              <a:rPr lang="es-MX" sz="2200" b="0" i="0" u="none" strike="noStrike" cap="none">
                <a:solidFill>
                  <a:srgbClr val="3F3F3F"/>
                </a:solidFill>
                <a:latin typeface="Calibri"/>
                <a:ea typeface="Calibri"/>
                <a:cs typeface="Calibri"/>
                <a:sym typeface="Calibri"/>
              </a:rPr>
              <a:t>Se convierta en un descubridor, integrador y presentador de ideas.</a:t>
            </a:r>
            <a:endParaRPr/>
          </a:p>
          <a:p>
            <a:pPr marL="457200" marR="0" lvl="0" indent="-457200" algn="just" rtl="0">
              <a:spcBef>
                <a:spcPts val="0"/>
              </a:spcBef>
              <a:spcAft>
                <a:spcPts val="0"/>
              </a:spcAft>
              <a:buClr>
                <a:srgbClr val="3F3F3F"/>
              </a:buClr>
              <a:buSzPts val="2200"/>
              <a:buFont typeface="Calibri"/>
              <a:buAutoNum type="arabicPeriod"/>
            </a:pPr>
            <a:r>
              <a:rPr lang="es-MX" sz="2200" b="0" i="0" u="none" strike="noStrike" cap="none">
                <a:solidFill>
                  <a:srgbClr val="3F3F3F"/>
                </a:solidFill>
                <a:latin typeface="Calibri"/>
                <a:ea typeface="Calibri"/>
                <a:cs typeface="Calibri"/>
                <a:sym typeface="Calibri"/>
              </a:rPr>
              <a:t>Defina sus propias tareas y trabaje en ellas, independientemente del tiempo que requieren.</a:t>
            </a:r>
            <a:endParaRPr/>
          </a:p>
          <a:p>
            <a:pPr marL="457200" marR="0" lvl="0" indent="-457200" algn="just" rtl="0">
              <a:spcBef>
                <a:spcPts val="0"/>
              </a:spcBef>
              <a:spcAft>
                <a:spcPts val="0"/>
              </a:spcAft>
              <a:buClr>
                <a:srgbClr val="3F3F3F"/>
              </a:buClr>
              <a:buSzPts val="2200"/>
              <a:buFont typeface="Calibri"/>
              <a:buAutoNum type="arabicPeriod"/>
            </a:pPr>
            <a:r>
              <a:rPr lang="es-MX" sz="2200" b="0" i="0" u="none" strike="noStrike" cap="none">
                <a:solidFill>
                  <a:srgbClr val="3F3F3F"/>
                </a:solidFill>
                <a:latin typeface="Calibri"/>
                <a:ea typeface="Calibri"/>
                <a:cs typeface="Calibri"/>
                <a:sym typeface="Calibri"/>
              </a:rPr>
              <a:t>Se muestre comunicativo, afectuoso, productivo y responsable.</a:t>
            </a:r>
            <a:endParaRPr/>
          </a:p>
          <a:p>
            <a:pPr marL="457200" marR="0" lvl="0" indent="-457200" algn="just" rtl="0">
              <a:spcBef>
                <a:spcPts val="0"/>
              </a:spcBef>
              <a:spcAft>
                <a:spcPts val="0"/>
              </a:spcAft>
              <a:buClr>
                <a:srgbClr val="3F3F3F"/>
              </a:buClr>
              <a:buSzPts val="2200"/>
              <a:buFont typeface="Calibri"/>
              <a:buAutoNum type="arabicPeriod"/>
            </a:pPr>
            <a:r>
              <a:rPr lang="es-MX" sz="2200" b="0" i="0" u="none" strike="noStrike" cap="none">
                <a:solidFill>
                  <a:srgbClr val="3F3F3F"/>
                </a:solidFill>
                <a:latin typeface="Calibri"/>
                <a:ea typeface="Calibri"/>
                <a:cs typeface="Calibri"/>
                <a:sym typeface="Calibri"/>
              </a:rPr>
              <a:t>Use la tecnología para manejar sus presentaciones o ampliar sus capacidades.</a:t>
            </a:r>
            <a:endParaRPr/>
          </a:p>
          <a:p>
            <a:pPr marL="457200" marR="0" lvl="0" indent="-457200" algn="just" rtl="0">
              <a:spcBef>
                <a:spcPts val="0"/>
              </a:spcBef>
              <a:spcAft>
                <a:spcPts val="0"/>
              </a:spcAft>
              <a:buClr>
                <a:srgbClr val="3F3F3F"/>
              </a:buClr>
              <a:buSzPts val="2200"/>
              <a:buFont typeface="Calibri"/>
              <a:buAutoNum type="arabicPeriod"/>
            </a:pPr>
            <a:r>
              <a:rPr lang="es-MX" sz="2200" b="0" i="0" u="none" strike="noStrike" cap="none">
                <a:solidFill>
                  <a:srgbClr val="3F3F3F"/>
                </a:solidFill>
                <a:latin typeface="Calibri"/>
                <a:ea typeface="Calibri"/>
                <a:cs typeface="Calibri"/>
                <a:sym typeface="Calibri"/>
              </a:rPr>
              <a:t>Trabaje colaborativamente con otros.</a:t>
            </a:r>
            <a:endParaRPr/>
          </a:p>
          <a:p>
            <a:pPr marL="457200" marR="0" lvl="0" indent="-457200" algn="just" rtl="0">
              <a:spcBef>
                <a:spcPts val="0"/>
              </a:spcBef>
              <a:spcAft>
                <a:spcPts val="0"/>
              </a:spcAft>
              <a:buClr>
                <a:srgbClr val="3F3F3F"/>
              </a:buClr>
              <a:buSzPts val="2200"/>
              <a:buFont typeface="Calibri"/>
              <a:buAutoNum type="arabicPeriod"/>
            </a:pPr>
            <a:r>
              <a:rPr lang="es-MX" sz="2200" b="0" i="0" u="none" strike="noStrike" cap="none">
                <a:solidFill>
                  <a:srgbClr val="3F3F3F"/>
                </a:solidFill>
                <a:latin typeface="Calibri"/>
                <a:ea typeface="Calibri"/>
                <a:cs typeface="Calibri"/>
                <a:sym typeface="Calibri"/>
              </a:rPr>
              <a:t>Construya, contribuya y sintetice información.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8"/>
          <p:cNvSpPr txBox="1"/>
          <p:nvPr/>
        </p:nvSpPr>
        <p:spPr>
          <a:xfrm>
            <a:off x="358815" y="383479"/>
            <a:ext cx="8079129" cy="440120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000" b="0" i="0" u="none" strike="noStrike" cap="none">
                <a:solidFill>
                  <a:srgbClr val="3F3F3F"/>
                </a:solidFill>
                <a:latin typeface="Calibri"/>
                <a:ea typeface="Calibri"/>
                <a:cs typeface="Calibri"/>
                <a:sym typeface="Calibri"/>
              </a:rPr>
              <a:t>Con el enfoque de aprendizaje por proyectos se espera que los aprendices: </a:t>
            </a:r>
            <a:endParaRPr/>
          </a:p>
          <a:p>
            <a:pPr marL="0" marR="0" lvl="0" indent="0" algn="just" rtl="0">
              <a:spcBef>
                <a:spcPts val="0"/>
              </a:spcBef>
              <a:spcAft>
                <a:spcPts val="0"/>
              </a:spcAft>
              <a:buNone/>
            </a:pPr>
            <a:endParaRPr sz="2000" b="0" i="0" u="none" strike="noStrike" cap="none">
              <a:solidFill>
                <a:srgbClr val="3F3F3F"/>
              </a:solidFill>
              <a:latin typeface="Calibri"/>
              <a:ea typeface="Calibri"/>
              <a:cs typeface="Calibri"/>
              <a:sym typeface="Calibri"/>
            </a:endParaRPr>
          </a:p>
          <a:p>
            <a:pPr marL="342900" marR="0" lvl="0" indent="-342900" algn="just" rtl="0">
              <a:spcBef>
                <a:spcPts val="0"/>
              </a:spcBef>
              <a:spcAft>
                <a:spcPts val="0"/>
              </a:spcAft>
              <a:buClr>
                <a:srgbClr val="3F3F3F"/>
              </a:buClr>
              <a:buSzPts val="2000"/>
              <a:buFont typeface="Calibri"/>
              <a:buAutoNum type="arabicPeriod"/>
            </a:pPr>
            <a:r>
              <a:rPr lang="es-MX" sz="2000" b="0" i="0" u="none" strike="noStrike" cap="none">
                <a:solidFill>
                  <a:srgbClr val="3F3F3F"/>
                </a:solidFill>
                <a:latin typeface="Calibri"/>
                <a:ea typeface="Calibri"/>
                <a:cs typeface="Calibri"/>
                <a:sym typeface="Calibri"/>
              </a:rPr>
              <a:t>Aprendan a través de su propia experiencia y que lo hagan resolviendo problemas concretos. </a:t>
            </a:r>
            <a:endParaRPr/>
          </a:p>
          <a:p>
            <a:pPr marL="342900" marR="0" lvl="0" indent="-342900" algn="just" rtl="0">
              <a:spcBef>
                <a:spcPts val="0"/>
              </a:spcBef>
              <a:spcAft>
                <a:spcPts val="0"/>
              </a:spcAft>
              <a:buClr>
                <a:srgbClr val="3F3F3F"/>
              </a:buClr>
              <a:buSzPts val="2000"/>
              <a:buFont typeface="Calibri"/>
              <a:buAutoNum type="arabicPeriod"/>
            </a:pPr>
            <a:r>
              <a:rPr lang="es-MX" sz="2000" b="0" i="0" u="none" strike="noStrike" cap="none">
                <a:solidFill>
                  <a:srgbClr val="3F3F3F"/>
                </a:solidFill>
                <a:latin typeface="Calibri"/>
                <a:ea typeface="Calibri"/>
                <a:cs typeface="Calibri"/>
                <a:sym typeface="Calibri"/>
              </a:rPr>
              <a:t>Sean capaces de trabajar en equipo y de comunicar información de diversa naturaleza. </a:t>
            </a:r>
            <a:endParaRPr/>
          </a:p>
          <a:p>
            <a:pPr marL="342900" marR="0" lvl="0" indent="-342900" algn="just" rtl="0">
              <a:spcBef>
                <a:spcPts val="0"/>
              </a:spcBef>
              <a:spcAft>
                <a:spcPts val="0"/>
              </a:spcAft>
              <a:buClr>
                <a:srgbClr val="3F3F3F"/>
              </a:buClr>
              <a:buSzPts val="2000"/>
              <a:buFont typeface="Calibri"/>
              <a:buAutoNum type="arabicPeriod"/>
            </a:pPr>
            <a:r>
              <a:rPr lang="es-MX" sz="2000" b="0" i="0" u="none" strike="noStrike" cap="none">
                <a:solidFill>
                  <a:srgbClr val="3F3F3F"/>
                </a:solidFill>
                <a:latin typeface="Calibri"/>
                <a:ea typeface="Calibri"/>
                <a:cs typeface="Calibri"/>
                <a:sym typeface="Calibri"/>
              </a:rPr>
              <a:t>Estén preparados de forma sólida para un empleo, incluyendo el trabajo por cuenta propia. </a:t>
            </a:r>
            <a:endParaRPr/>
          </a:p>
          <a:p>
            <a:pPr marL="342900" marR="0" lvl="0" indent="-215900" algn="just" rtl="0">
              <a:spcBef>
                <a:spcPts val="0"/>
              </a:spcBef>
              <a:spcAft>
                <a:spcPts val="0"/>
              </a:spcAft>
              <a:buClr>
                <a:schemeClr val="dk1"/>
              </a:buClr>
              <a:buSzPts val="2000"/>
              <a:buFont typeface="Calibri"/>
              <a:buNone/>
            </a:pPr>
            <a:endParaRPr sz="20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000" b="0" i="0" u="none" strike="noStrike" cap="none">
                <a:solidFill>
                  <a:srgbClr val="3F3F3F"/>
                </a:solidFill>
                <a:latin typeface="Calibri"/>
                <a:ea typeface="Calibri"/>
                <a:cs typeface="Calibri"/>
                <a:sym typeface="Calibri"/>
              </a:rPr>
              <a:t>La formación por proyecto es un enfoque en el que el tutor-guía no da una clase magistral, sino que crea situaciones para que el aprendiz ensaye y compruebe de manera autónoma y colaborativa. De esta forma adquiere conocimientos y desarrolla competencias requeridas para desempeñarse en un trabajo.</a:t>
            </a:r>
            <a:endParaRPr sz="2000" b="0" i="0" u="none" strike="noStrike" cap="none">
              <a:solidFill>
                <a:srgbClr val="3F3F3F"/>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9"/>
          <p:cNvSpPr txBox="1"/>
          <p:nvPr/>
        </p:nvSpPr>
        <p:spPr>
          <a:xfrm>
            <a:off x="954628" y="1407936"/>
            <a:ext cx="7650865" cy="76944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s-MX" sz="4400" b="1" i="0" u="none" strike="noStrike" cap="none">
                <a:solidFill>
                  <a:srgbClr val="3F3F3F"/>
                </a:solidFill>
                <a:latin typeface="Calibri"/>
                <a:ea typeface="Calibri"/>
                <a:cs typeface="Calibri"/>
                <a:sym typeface="Calibri"/>
              </a:rPr>
              <a:t>ESTILOS DE APRENDIZAJE</a:t>
            </a:r>
            <a:endParaRPr/>
          </a:p>
        </p:txBody>
      </p:sp>
      <p:sp>
        <p:nvSpPr>
          <p:cNvPr id="255" name="Google Shape;255;p39"/>
          <p:cNvSpPr/>
          <p:nvPr/>
        </p:nvSpPr>
        <p:spPr>
          <a:xfrm>
            <a:off x="5590572" y="2194080"/>
            <a:ext cx="2922324" cy="45719"/>
          </a:xfrm>
          <a:prstGeom prst="rect">
            <a:avLst/>
          </a:prstGeom>
          <a:solidFill>
            <a:srgbClr val="FF66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56" name="Google Shape;256;p39" descr="Estilos de aprendizaje: Visual, auditivo y kinestésico. ¿Cuál eres tú?"/>
          <p:cNvPicPr preferRelativeResize="0"/>
          <p:nvPr/>
        </p:nvPicPr>
        <p:blipFill rotWithShape="1">
          <a:blip r:embed="rId3">
            <a:alphaModFix/>
          </a:blip>
          <a:srcRect/>
          <a:stretch/>
        </p:blipFill>
        <p:spPr>
          <a:xfrm>
            <a:off x="4085864" y="2447178"/>
            <a:ext cx="3427794" cy="203085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0"/>
          <p:cNvSpPr txBox="1"/>
          <p:nvPr/>
        </p:nvSpPr>
        <p:spPr>
          <a:xfrm>
            <a:off x="358815" y="383479"/>
            <a:ext cx="8079129" cy="101566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000" b="0" i="0" u="none" strike="noStrike" cap="none" dirty="0">
                <a:solidFill>
                  <a:srgbClr val="3F3F3F"/>
                </a:solidFill>
                <a:latin typeface="Calibri"/>
                <a:ea typeface="Calibri"/>
                <a:cs typeface="Calibri"/>
                <a:sym typeface="Calibri"/>
              </a:rPr>
              <a:t>Observa el siguiente video de estilos de aprendizaje y participa en la plenaria:</a:t>
            </a:r>
            <a:endParaRPr dirty="0"/>
          </a:p>
          <a:p>
            <a:pPr marL="0" marR="0" lvl="0" indent="0" algn="just" rtl="0">
              <a:spcBef>
                <a:spcPts val="0"/>
              </a:spcBef>
              <a:spcAft>
                <a:spcPts val="0"/>
              </a:spcAft>
              <a:buNone/>
            </a:pPr>
            <a:endParaRPr sz="2000" b="0" i="0" u="none" strike="noStrike" cap="none" dirty="0">
              <a:solidFill>
                <a:srgbClr val="3F3F3F"/>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41"/>
          <p:cNvSpPr txBox="1"/>
          <p:nvPr/>
        </p:nvSpPr>
        <p:spPr>
          <a:xfrm>
            <a:off x="254642" y="124926"/>
            <a:ext cx="8113854" cy="489364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2400" b="1" i="0" u="none" strike="noStrike" cap="none">
                <a:solidFill>
                  <a:srgbClr val="3F3F3F"/>
                </a:solidFill>
                <a:latin typeface="Calibri"/>
                <a:ea typeface="Calibri"/>
                <a:cs typeface="Calibri"/>
                <a:sym typeface="Calibri"/>
              </a:rPr>
              <a:t>ESTILOS DE APRENDIZAJE</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Cuando un aprendiz inicia en el SENA, se busca desde la fase de Inducción de la Formación identificar su estilo de aprendizaje, a partir del modelo de Kolb Con ello, se pretende identificar la forma particular  que utiliza cuando quiere aprender algo, de acuerdo con sus propias tendencias. Según Alonso, C.; Gallego (1994), los estilos de aprendizaje son los cómo la mente procesa la información o cómo es influida por las percepciones de cada individuo y  están estrechamente relacionados con la forma como los estudiantes aprenden, los profesores enseñan y cómo ambos interactúan en la relación de enseñanza – aprendizaje (Tomado de Estilos de aprendizaje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2"/>
          <p:cNvSpPr txBox="1"/>
          <p:nvPr/>
        </p:nvSpPr>
        <p:spPr>
          <a:xfrm>
            <a:off x="347240" y="494258"/>
            <a:ext cx="7905510" cy="415498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2400" b="0" i="0" u="none" strike="noStrike" cap="none">
                <a:solidFill>
                  <a:srgbClr val="3F3F3F"/>
                </a:solidFill>
                <a:latin typeface="Calibri"/>
                <a:ea typeface="Calibri"/>
                <a:cs typeface="Calibri"/>
                <a:sym typeface="Calibri"/>
              </a:rPr>
              <a:t> </a:t>
            </a:r>
            <a:r>
              <a:rPr lang="es-MX" sz="2400" b="1" i="0" u="none" strike="noStrike" cap="none">
                <a:solidFill>
                  <a:srgbClr val="3F3F3F"/>
                </a:solidFill>
                <a:latin typeface="Calibri"/>
                <a:ea typeface="Calibri"/>
                <a:cs typeface="Calibri"/>
                <a:sym typeface="Calibri"/>
              </a:rPr>
              <a:t>Modo de procesar O Modelo de Kolb "Experimental Learning" (Kolb 1984). </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Para aprender algo se debe trabajar o procesar la información recibida. Kolb dice que, por un lado, se puede partir:</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457200" marR="0" lvl="0" indent="-457200" algn="just" rtl="0">
              <a:spcBef>
                <a:spcPts val="0"/>
              </a:spcBef>
              <a:spcAft>
                <a:spcPts val="0"/>
              </a:spcAft>
              <a:buClr>
                <a:srgbClr val="3F3F3F"/>
              </a:buClr>
              <a:buSzPts val="2400"/>
              <a:buFont typeface="Calibri"/>
              <a:buAutoNum type="alphaLcParenR"/>
            </a:pPr>
            <a:r>
              <a:rPr lang="es-MX" sz="2400" b="0" i="0" u="none" strike="noStrike" cap="none">
                <a:solidFill>
                  <a:srgbClr val="3F3F3F"/>
                </a:solidFill>
                <a:latin typeface="Calibri"/>
                <a:ea typeface="Calibri"/>
                <a:cs typeface="Calibri"/>
                <a:sym typeface="Calibri"/>
              </a:rPr>
              <a:t>De una experiencia directa y concreta. </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457200" marR="0" lvl="0" indent="-457200" algn="just" rtl="0">
              <a:spcBef>
                <a:spcPts val="0"/>
              </a:spcBef>
              <a:spcAft>
                <a:spcPts val="0"/>
              </a:spcAft>
              <a:buClr>
                <a:srgbClr val="3F3F3F"/>
              </a:buClr>
              <a:buSzPts val="2400"/>
              <a:buFont typeface="Calibri"/>
              <a:buAutoNum type="alphaLcParenR"/>
            </a:pPr>
            <a:r>
              <a:rPr lang="es-MX" sz="2400" b="0" i="0" u="none" strike="noStrike" cap="none">
                <a:solidFill>
                  <a:srgbClr val="3F3F3F"/>
                </a:solidFill>
                <a:latin typeface="Calibri"/>
                <a:ea typeface="Calibri"/>
                <a:cs typeface="Calibri"/>
                <a:sym typeface="Calibri"/>
              </a:rPr>
              <a:t>De una experiencia abstracta, que es la que se tiene al leer acerca de algo o cuando alguien lo cuenta</a:t>
            </a: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3"/>
          <p:cNvSpPr txBox="1"/>
          <p:nvPr/>
        </p:nvSpPr>
        <p:spPr>
          <a:xfrm>
            <a:off x="653969" y="171093"/>
            <a:ext cx="7483033" cy="489364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Kolb identificó dos dimensiones principales del aprendizaje: la percepción y el procesamiento. </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Menciona que el aprendizaje es el resultado de la forma cómo las personas perciben y luego procesan lo que han percibido.</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Algunas personas procesan a través de la </a:t>
            </a:r>
            <a:r>
              <a:rPr lang="es-MX" sz="2400" b="1" i="0" u="none" strike="noStrike" cap="none">
                <a:solidFill>
                  <a:srgbClr val="3F3F3F"/>
                </a:solidFill>
                <a:latin typeface="Calibri"/>
                <a:ea typeface="Calibri"/>
                <a:cs typeface="Calibri"/>
                <a:sym typeface="Calibri"/>
              </a:rPr>
              <a:t>experimentación activa</a:t>
            </a:r>
            <a:r>
              <a:rPr lang="es-MX" sz="2400" b="0" i="0" u="none" strike="noStrike" cap="none">
                <a:solidFill>
                  <a:srgbClr val="3F3F3F"/>
                </a:solidFill>
                <a:latin typeface="Calibri"/>
                <a:ea typeface="Calibri"/>
                <a:cs typeface="Calibri"/>
                <a:sym typeface="Calibri"/>
              </a:rPr>
              <a:t> (la puesta en práctica de las implicaciones de los conceptos en situaciones nuevas), mientras que otras a través de la </a:t>
            </a:r>
            <a:r>
              <a:rPr lang="es-MX" sz="2400" b="1" i="0" u="none" strike="noStrike" cap="none">
                <a:solidFill>
                  <a:srgbClr val="3F3F3F"/>
                </a:solidFill>
                <a:latin typeface="Calibri"/>
                <a:ea typeface="Calibri"/>
                <a:cs typeface="Calibri"/>
                <a:sym typeface="Calibri"/>
              </a:rPr>
              <a:t>observación reflexiva</a:t>
            </a:r>
            <a:r>
              <a:rPr lang="es-MX" sz="2400" b="0" i="0" u="none" strike="noStrike" cap="none">
                <a:solidFill>
                  <a:srgbClr val="3F3F3F"/>
                </a:solidFill>
                <a:latin typeface="Calibri"/>
                <a:ea typeface="Calibri"/>
                <a:cs typeface="Calibri"/>
                <a:sym typeface="Calibri"/>
              </a:rPr>
              <a:t>. Esto llevó a Kolb a describir un modelo de cuatro cuadrantes para explicar los estilos de aprendizaje, basado en:</a:t>
            </a:r>
            <a:endParaRPr sz="2400" b="0" i="0" u="none" strike="noStrike" cap="none">
              <a:solidFill>
                <a:srgbClr val="3F3F3F"/>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4"/>
          <p:cNvSpPr txBox="1"/>
          <p:nvPr/>
        </p:nvSpPr>
        <p:spPr>
          <a:xfrm>
            <a:off x="439838" y="260330"/>
            <a:ext cx="7697165" cy="4524315"/>
          </a:xfrm>
          <a:prstGeom prst="rect">
            <a:avLst/>
          </a:prstGeom>
          <a:noFill/>
          <a:ln>
            <a:noFill/>
          </a:ln>
        </p:spPr>
        <p:txBody>
          <a:bodyPr spcFirstLastPara="1" wrap="square" lIns="91425" tIns="45700" rIns="91425" bIns="45700" anchor="t" anchorCtr="0">
            <a:spAutoFit/>
          </a:bodyPr>
          <a:lstStyle/>
          <a:p>
            <a:pPr marL="0" marR="0" lvl="0" indent="-152400" algn="just" rtl="0">
              <a:spcBef>
                <a:spcPts val="0"/>
              </a:spcBef>
              <a:spcAft>
                <a:spcPts val="0"/>
              </a:spcAft>
              <a:buClr>
                <a:srgbClr val="3F3F3F"/>
              </a:buClr>
              <a:buSzPts val="2400"/>
              <a:buFont typeface="Arial"/>
              <a:buChar char="•"/>
            </a:pPr>
            <a:r>
              <a:rPr lang="es-MX" sz="2400" b="0" i="0" u="none" strike="noStrike" cap="none">
                <a:solidFill>
                  <a:srgbClr val="3F3F3F"/>
                </a:solidFill>
                <a:latin typeface="Calibri"/>
                <a:ea typeface="Calibri"/>
                <a:cs typeface="Calibri"/>
                <a:sym typeface="Calibri"/>
              </a:rPr>
              <a:t>Involucrarse enteramente y sin prejuicios a las situaciones que se le presenten,</a:t>
            </a:r>
            <a:endParaRPr/>
          </a:p>
          <a:p>
            <a:pPr marL="0" marR="0" lvl="0" indent="-152400" algn="just" rtl="0">
              <a:spcBef>
                <a:spcPts val="0"/>
              </a:spcBef>
              <a:spcAft>
                <a:spcPts val="0"/>
              </a:spcAft>
              <a:buClr>
                <a:srgbClr val="3F3F3F"/>
              </a:buClr>
              <a:buSzPts val="2400"/>
              <a:buFont typeface="Arial"/>
              <a:buChar char="•"/>
            </a:pPr>
            <a:r>
              <a:rPr lang="es-MX" sz="2400" b="0" i="0" u="none" strike="noStrike" cap="none">
                <a:solidFill>
                  <a:srgbClr val="3F3F3F"/>
                </a:solidFill>
                <a:latin typeface="Calibri"/>
                <a:ea typeface="Calibri"/>
                <a:cs typeface="Calibri"/>
                <a:sym typeface="Calibri"/>
              </a:rPr>
              <a:t>Lograr reflexionar acerca de esas experiencias y percibirlas desde varias aproximaciones,</a:t>
            </a:r>
            <a:endParaRPr/>
          </a:p>
          <a:p>
            <a:pPr marL="0" marR="0" lvl="0" indent="-152400" algn="just" rtl="0">
              <a:spcBef>
                <a:spcPts val="0"/>
              </a:spcBef>
              <a:spcAft>
                <a:spcPts val="0"/>
              </a:spcAft>
              <a:buClr>
                <a:srgbClr val="3F3F3F"/>
              </a:buClr>
              <a:buSzPts val="2400"/>
              <a:buFont typeface="Arial"/>
              <a:buChar char="•"/>
            </a:pPr>
            <a:r>
              <a:rPr lang="es-MX" sz="2400" b="0" i="0" u="none" strike="noStrike" cap="none">
                <a:solidFill>
                  <a:srgbClr val="3F3F3F"/>
                </a:solidFill>
                <a:latin typeface="Calibri"/>
                <a:ea typeface="Calibri"/>
                <a:cs typeface="Calibri"/>
                <a:sym typeface="Calibri"/>
              </a:rPr>
              <a:t>Generar conceptos e integrar sus observaciones en teorías lógicamente sólidas,</a:t>
            </a:r>
            <a:endParaRPr/>
          </a:p>
          <a:p>
            <a:pPr marL="0" marR="0" lvl="0" indent="-152400" algn="just" rtl="0">
              <a:spcBef>
                <a:spcPts val="0"/>
              </a:spcBef>
              <a:spcAft>
                <a:spcPts val="0"/>
              </a:spcAft>
              <a:buClr>
                <a:srgbClr val="3F3F3F"/>
              </a:buClr>
              <a:buSzPts val="2400"/>
              <a:buFont typeface="Arial"/>
              <a:buChar char="•"/>
            </a:pPr>
            <a:r>
              <a:rPr lang="es-MX" sz="2400" b="0" i="0" u="none" strike="noStrike" cap="none">
                <a:solidFill>
                  <a:srgbClr val="3F3F3F"/>
                </a:solidFill>
                <a:latin typeface="Calibri"/>
                <a:ea typeface="Calibri"/>
                <a:cs typeface="Calibri"/>
                <a:sym typeface="Calibri"/>
              </a:rPr>
              <a:t>Ser capaz de utilizar esas teorías para tomar decisiones y solucionar problemas.</a:t>
            </a:r>
            <a:endParaRPr/>
          </a:p>
          <a:p>
            <a:pPr marL="0" marR="0" lvl="0" indent="0" algn="just" rtl="0">
              <a:spcBef>
                <a:spcPts val="0"/>
              </a:spcBef>
              <a:spcAft>
                <a:spcPts val="0"/>
              </a:spcAft>
              <a:buNone/>
            </a:pPr>
            <a:endParaRPr sz="24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Para efectos de aprendizaje, se adjunta un instrumento de identificación del estilo de aprendizaje según Kolb, el cual incluye la explicación de cada uno de los estilos.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45"/>
          <p:cNvSpPr txBox="1"/>
          <p:nvPr/>
        </p:nvSpPr>
        <p:spPr>
          <a:xfrm>
            <a:off x="439838" y="260330"/>
            <a:ext cx="7697165"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400" b="0" i="0" u="none" strike="noStrike" cap="none">
                <a:solidFill>
                  <a:srgbClr val="3F3F3F"/>
                </a:solidFill>
                <a:latin typeface="Calibri"/>
                <a:ea typeface="Calibri"/>
                <a:cs typeface="Calibri"/>
                <a:sym typeface="Calibri"/>
              </a:rPr>
              <a:t>ESTILOS DE APRENDIZAJE DE KOLB</a:t>
            </a:r>
            <a:endParaRPr/>
          </a:p>
        </p:txBody>
      </p:sp>
      <p:pic>
        <p:nvPicPr>
          <p:cNvPr id="288" name="Google Shape;288;p45" descr="✅ Test de estilos de aprendizaje de Kolb ▷ Cuál es el tuyo?"/>
          <p:cNvPicPr preferRelativeResize="0"/>
          <p:nvPr/>
        </p:nvPicPr>
        <p:blipFill rotWithShape="1">
          <a:blip r:embed="rId3">
            <a:alphaModFix/>
          </a:blip>
          <a:srcRect/>
          <a:stretch/>
        </p:blipFill>
        <p:spPr>
          <a:xfrm>
            <a:off x="127321" y="1033518"/>
            <a:ext cx="8704162" cy="394558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6"/>
          <p:cNvSpPr txBox="1"/>
          <p:nvPr/>
        </p:nvSpPr>
        <p:spPr>
          <a:xfrm>
            <a:off x="439838" y="260330"/>
            <a:ext cx="7697165" cy="4616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400" b="0" i="0" u="none" strike="noStrike" cap="none" dirty="0">
                <a:solidFill>
                  <a:srgbClr val="3F3F3F"/>
                </a:solidFill>
                <a:latin typeface="Calibri"/>
                <a:ea typeface="Calibri"/>
                <a:cs typeface="Calibri"/>
                <a:sym typeface="Calibri"/>
              </a:rPr>
              <a:t>Observemos el video de los estilos de aprendizaje de </a:t>
            </a:r>
            <a:r>
              <a:rPr lang="es-MX" sz="2400" b="0" i="0" u="none" strike="noStrike" cap="none" dirty="0" err="1">
                <a:solidFill>
                  <a:srgbClr val="3F3F3F"/>
                </a:solidFill>
                <a:latin typeface="Calibri"/>
                <a:ea typeface="Calibri"/>
                <a:cs typeface="Calibri"/>
                <a:sym typeface="Calibri"/>
              </a:rPr>
              <a:t>kolb</a:t>
            </a:r>
            <a:endParaRPr sz="2400" b="0" i="0" u="none" strike="noStrike" cap="none" dirty="0">
              <a:solidFill>
                <a:srgbClr val="3F3F3F"/>
              </a:solidFill>
              <a:latin typeface="Calibri"/>
              <a:ea typeface="Calibri"/>
              <a:cs typeface="Calibri"/>
              <a:sym typeface="Calibri"/>
            </a:endParaRPr>
          </a:p>
        </p:txBody>
      </p:sp>
      <p:pic>
        <p:nvPicPr>
          <p:cNvPr id="294" name="Google Shape;294;p46"/>
          <p:cNvPicPr preferRelativeResize="0"/>
          <p:nvPr/>
        </p:nvPicPr>
        <p:blipFill rotWithShape="1">
          <a:blip r:embed="rId3">
            <a:alphaModFix/>
          </a:blip>
          <a:srcRect/>
          <a:stretch/>
        </p:blipFill>
        <p:spPr>
          <a:xfrm>
            <a:off x="1524000" y="857250"/>
            <a:ext cx="6096000" cy="3429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4"/>
                                        </p:tgtEl>
                                        <p:attrNameLst>
                                          <p:attrName>style.visibility</p:attrName>
                                        </p:attrNameLst>
                                      </p:cBhvr>
                                      <p:to>
                                        <p:strVal val="visible"/>
                                      </p:to>
                                    </p:set>
                                    <p:animEffect transition="in" filter="fade">
                                      <p:cBhvr>
                                        <p:cTn id="7" dur="5000"/>
                                        <p:tgtEl>
                                          <p:spTgt spid="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7"/>
          <p:cNvSpPr txBox="1"/>
          <p:nvPr/>
        </p:nvSpPr>
        <p:spPr>
          <a:xfrm>
            <a:off x="347240" y="249853"/>
            <a:ext cx="7905510" cy="44935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2200" b="0" i="0" u="none" strike="noStrike" cap="none">
                <a:solidFill>
                  <a:srgbClr val="3F3F3F"/>
                </a:solidFill>
                <a:latin typeface="Calibri"/>
                <a:ea typeface="Calibri"/>
                <a:cs typeface="Calibri"/>
                <a:sym typeface="Calibri"/>
              </a:rPr>
              <a:t>ACOMODADOR</a:t>
            </a:r>
            <a:endParaRPr/>
          </a:p>
          <a:p>
            <a:pPr marL="0" marR="0" lvl="0" indent="0" algn="ctr" rtl="0">
              <a:spcBef>
                <a:spcPts val="0"/>
              </a:spcBef>
              <a:spcAft>
                <a:spcPts val="0"/>
              </a:spcAft>
              <a:buNone/>
            </a:pPr>
            <a:endParaRPr sz="22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200" b="0" i="0" u="none" strike="noStrike" cap="none">
                <a:solidFill>
                  <a:schemeClr val="dk1"/>
                </a:solidFill>
                <a:latin typeface="Calibri"/>
                <a:ea typeface="Calibri"/>
                <a:cs typeface="Calibri"/>
                <a:sym typeface="Calibri"/>
              </a:rPr>
              <a:t>Combina las características de la experiencia concreta con las de experimentación activa. Las personas con este estilo de aprendizaje poseen la habilidad de aprender a partir de las experiencias directamente. Las personas con éste estilo disfrutan desarrollando los planes e involucrándote con nuevas y retadoras experiencias. La tendencia puede ser a actuar "visceralmente" en lugar de hacer un análisis lógico de la situación. En la solución de problemas existe la tendencia a confiar más en la información provista por otras personas en lugar de confiar en el propio análisis técnico. Este estilo de aprendizaje es importante para la efectividad en las carreras orientadas a la acción, tal como mercadotecnia o ventas.</a:t>
            </a:r>
            <a:endParaRPr sz="2200" b="0" i="0" u="none" strike="noStrike" cap="none">
              <a:solidFill>
                <a:srgbClr val="3F3F3F"/>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pic>
        <p:nvPicPr>
          <p:cNvPr id="304" name="Google Shape;304;p48"/>
          <p:cNvPicPr preferRelativeResize="0"/>
          <p:nvPr/>
        </p:nvPicPr>
        <p:blipFill rotWithShape="1">
          <a:blip r:embed="rId3">
            <a:alphaModFix/>
          </a:blip>
          <a:srcRect/>
          <a:stretch/>
        </p:blipFill>
        <p:spPr>
          <a:xfrm>
            <a:off x="371475" y="747712"/>
            <a:ext cx="8401050" cy="36480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49"/>
          <p:cNvSpPr txBox="1"/>
          <p:nvPr/>
        </p:nvSpPr>
        <p:spPr>
          <a:xfrm>
            <a:off x="347240" y="155704"/>
            <a:ext cx="7905510" cy="483209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2200" b="0" i="0" u="none" strike="noStrike" cap="none">
                <a:solidFill>
                  <a:srgbClr val="3F3F3F"/>
                </a:solidFill>
                <a:latin typeface="Calibri"/>
                <a:ea typeface="Calibri"/>
                <a:cs typeface="Calibri"/>
                <a:sym typeface="Calibri"/>
              </a:rPr>
              <a:t> </a:t>
            </a:r>
            <a:r>
              <a:rPr lang="es-MX" sz="2200" b="1" i="0" u="none" strike="noStrike" cap="none">
                <a:solidFill>
                  <a:srgbClr val="3F3F3F"/>
                </a:solidFill>
                <a:latin typeface="Calibri"/>
                <a:ea typeface="Calibri"/>
                <a:cs typeface="Calibri"/>
                <a:sym typeface="Calibri"/>
              </a:rPr>
              <a:t>DIVERGENTE</a:t>
            </a:r>
            <a:endParaRPr/>
          </a:p>
          <a:p>
            <a:pPr marL="0" marR="0" lvl="0" indent="0" algn="just" rtl="0">
              <a:spcBef>
                <a:spcPts val="0"/>
              </a:spcBef>
              <a:spcAft>
                <a:spcPts val="0"/>
              </a:spcAft>
              <a:buNone/>
            </a:pPr>
            <a:endParaRPr sz="2200" b="1"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Combina las características de la experiencia concreta con las de observación reflexiva. Las personas con este estilo de aprendizaje son mejores para las situaciones en que se requiere observar situaciones desde diferentes puntos de vista. Sus aportaciones a las situaciones son observar más que tomar parte en la acción. Las personas con éste estilo disfrutan aquellas situaciones en que se pueden generar una gran variedad de ideas, tal como una sesión de lluvia de ideas. Las personas con este estilo de aprendizaje pueden tener una gran cantidad de intereses culturales y gustan de estar en contacto con información. Esta habilidad imaginativa y sensibilidad es necesaria para ser efectivo en las carreras relativas a artes, entretenimiento y servicios.</a:t>
            </a:r>
            <a:endParaRPr sz="2200" b="0" i="0" u="none" strike="noStrike" cap="none">
              <a:solidFill>
                <a:srgbClr val="3F3F3F"/>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pic>
        <p:nvPicPr>
          <p:cNvPr id="314" name="Google Shape;314;p50"/>
          <p:cNvPicPr preferRelativeResize="0"/>
          <p:nvPr/>
        </p:nvPicPr>
        <p:blipFill rotWithShape="1">
          <a:blip r:embed="rId3">
            <a:alphaModFix/>
          </a:blip>
          <a:srcRect/>
          <a:stretch/>
        </p:blipFill>
        <p:spPr>
          <a:xfrm>
            <a:off x="366712" y="842962"/>
            <a:ext cx="8410575" cy="1152525"/>
          </a:xfrm>
          <a:prstGeom prst="rect">
            <a:avLst/>
          </a:prstGeom>
          <a:noFill/>
          <a:ln>
            <a:noFill/>
          </a:ln>
        </p:spPr>
      </p:pic>
      <p:pic>
        <p:nvPicPr>
          <p:cNvPr id="315" name="Google Shape;315;p50"/>
          <p:cNvPicPr preferRelativeResize="0"/>
          <p:nvPr/>
        </p:nvPicPr>
        <p:blipFill rotWithShape="1">
          <a:blip r:embed="rId4">
            <a:alphaModFix/>
          </a:blip>
          <a:srcRect/>
          <a:stretch/>
        </p:blipFill>
        <p:spPr>
          <a:xfrm>
            <a:off x="366712" y="1824039"/>
            <a:ext cx="8382000" cy="26479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51"/>
          <p:cNvSpPr txBox="1"/>
          <p:nvPr/>
        </p:nvSpPr>
        <p:spPr>
          <a:xfrm>
            <a:off x="798652" y="353323"/>
            <a:ext cx="7222603" cy="44935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2200" b="1" i="0" u="none" strike="noStrike" cap="none">
                <a:solidFill>
                  <a:srgbClr val="3F3F3F"/>
                </a:solidFill>
                <a:latin typeface="Calibri"/>
                <a:ea typeface="Calibri"/>
                <a:cs typeface="Calibri"/>
                <a:sym typeface="Calibri"/>
              </a:rPr>
              <a:t>ASIMILADOR </a:t>
            </a:r>
            <a:endParaRPr/>
          </a:p>
          <a:p>
            <a:pPr marL="0" marR="0" lvl="0" indent="0" algn="just" rtl="0">
              <a:spcBef>
                <a:spcPts val="0"/>
              </a:spcBef>
              <a:spcAft>
                <a:spcPts val="0"/>
              </a:spcAft>
              <a:buNone/>
            </a:pPr>
            <a:endParaRPr sz="22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Combina las características de la conceptualización abstracta y la observación reflexiva. Las personas con este estilo de aprendizaje poseen la habilidad de entender una amplia variedad de información y colocarla de una manera lógica y concisa. Las personas con éste estilo de aprendizaje, es probable que estén menos atentos a lo que pasa con las personas y más interesados en las ideas y conceptos abstractos. Generalmente las personas con este estilo de aprendizaje encuentran más importante que una teoría suene lógica que su valor práctico. Este estilo de aprendizaje es efectivo en las carreras sobre información y ciencias.</a:t>
            </a:r>
            <a:endParaRPr sz="2200" b="0" i="0" u="none" strike="noStrike" cap="none">
              <a:solidFill>
                <a:srgbClr val="3F3F3F"/>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pic>
        <p:nvPicPr>
          <p:cNvPr id="325" name="Google Shape;325;p52"/>
          <p:cNvPicPr preferRelativeResize="0"/>
          <p:nvPr/>
        </p:nvPicPr>
        <p:blipFill rotWithShape="1">
          <a:blip r:embed="rId3">
            <a:alphaModFix/>
          </a:blip>
          <a:srcRect/>
          <a:stretch/>
        </p:blipFill>
        <p:spPr>
          <a:xfrm>
            <a:off x="366712" y="842962"/>
            <a:ext cx="8410575" cy="1152525"/>
          </a:xfrm>
          <a:prstGeom prst="rect">
            <a:avLst/>
          </a:prstGeom>
          <a:noFill/>
          <a:ln>
            <a:noFill/>
          </a:ln>
        </p:spPr>
      </p:pic>
      <p:pic>
        <p:nvPicPr>
          <p:cNvPr id="326" name="Google Shape;326;p52"/>
          <p:cNvPicPr preferRelativeResize="0"/>
          <p:nvPr/>
        </p:nvPicPr>
        <p:blipFill rotWithShape="1">
          <a:blip r:embed="rId4">
            <a:alphaModFix/>
          </a:blip>
          <a:srcRect/>
          <a:stretch/>
        </p:blipFill>
        <p:spPr>
          <a:xfrm>
            <a:off x="366712" y="1854300"/>
            <a:ext cx="8315325" cy="23145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53"/>
          <p:cNvSpPr txBox="1"/>
          <p:nvPr/>
        </p:nvSpPr>
        <p:spPr>
          <a:xfrm>
            <a:off x="474562" y="350013"/>
            <a:ext cx="7662441" cy="44935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2200" b="1" i="0" u="none" strike="noStrike" cap="none">
                <a:solidFill>
                  <a:srgbClr val="3F3F3F"/>
                </a:solidFill>
                <a:latin typeface="Calibri"/>
                <a:ea typeface="Calibri"/>
                <a:cs typeface="Calibri"/>
                <a:sym typeface="Calibri"/>
              </a:rPr>
              <a:t>CONVERGENTE</a:t>
            </a:r>
            <a:endParaRPr/>
          </a:p>
          <a:p>
            <a:pPr marL="0" marR="0" lvl="0" indent="0" algn="just" rtl="0">
              <a:spcBef>
                <a:spcPts val="0"/>
              </a:spcBef>
              <a:spcAft>
                <a:spcPts val="0"/>
              </a:spcAft>
              <a:buNone/>
            </a:pPr>
            <a:endParaRPr sz="22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Combina las características de la conceptualización abstracta y la experimentación activa. Las personas con este estilo de aprendizaje poseen la habilidad de encontrar el uso práctico para las ideas y las teorías. Las personas con éste estilo de aprendizaje, tienen la habilidad para solucionar problemas y tomar decisiones basado en el proceso de encontrar las soluciones a preguntas o problemas. Posee una mejor habilidad para manejar acciones y problemas de carácter técnico, que para manejar situaciones sociales o interpersonales. Estas habilidades de aprendizaje son importantes para ser efectivo en carreras especializadas y tecnológicas.</a:t>
            </a:r>
            <a:endParaRPr sz="2200" b="0" i="0" u="none" strike="noStrike" cap="none">
              <a:solidFill>
                <a:srgbClr val="3F3F3F"/>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pic>
        <p:nvPicPr>
          <p:cNvPr id="336" name="Google Shape;336;p54"/>
          <p:cNvPicPr preferRelativeResize="0"/>
          <p:nvPr/>
        </p:nvPicPr>
        <p:blipFill rotWithShape="1">
          <a:blip r:embed="rId3">
            <a:alphaModFix/>
          </a:blip>
          <a:srcRect/>
          <a:stretch/>
        </p:blipFill>
        <p:spPr>
          <a:xfrm>
            <a:off x="466785" y="1903070"/>
            <a:ext cx="8372475" cy="2438400"/>
          </a:xfrm>
          <a:prstGeom prst="rect">
            <a:avLst/>
          </a:prstGeom>
          <a:noFill/>
          <a:ln>
            <a:noFill/>
          </a:ln>
        </p:spPr>
      </p:pic>
      <p:pic>
        <p:nvPicPr>
          <p:cNvPr id="337" name="Google Shape;337;p54"/>
          <p:cNvPicPr preferRelativeResize="0"/>
          <p:nvPr/>
        </p:nvPicPr>
        <p:blipFill rotWithShape="1">
          <a:blip r:embed="rId4">
            <a:alphaModFix/>
          </a:blip>
          <a:srcRect/>
          <a:stretch/>
        </p:blipFill>
        <p:spPr>
          <a:xfrm>
            <a:off x="486137" y="771524"/>
            <a:ext cx="8391223" cy="11525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55"/>
          <p:cNvSpPr txBox="1"/>
          <p:nvPr/>
        </p:nvSpPr>
        <p:spPr>
          <a:xfrm>
            <a:off x="474562" y="100246"/>
            <a:ext cx="7662441" cy="110799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Una  vez tenido claro los conceptos vamos a contestar el cuestionario sobre estilos de aprendizaje para saber cual es tu estilo. Abrir el archivo de Excel y contestar:</a:t>
            </a:r>
            <a:endParaRPr sz="2200" b="0" i="0" u="none" strike="noStrike" cap="none">
              <a:solidFill>
                <a:srgbClr val="3F3F3F"/>
              </a:solidFill>
              <a:latin typeface="Calibri"/>
              <a:ea typeface="Calibri"/>
              <a:cs typeface="Calibri"/>
              <a:sym typeface="Calibri"/>
            </a:endParaRPr>
          </a:p>
        </p:txBody>
      </p:sp>
      <p:pic>
        <p:nvPicPr>
          <p:cNvPr id="343" name="Google Shape;343;p55"/>
          <p:cNvPicPr preferRelativeResize="0"/>
          <p:nvPr/>
        </p:nvPicPr>
        <p:blipFill rotWithShape="1">
          <a:blip r:embed="rId3">
            <a:alphaModFix/>
          </a:blip>
          <a:srcRect/>
          <a:stretch/>
        </p:blipFill>
        <p:spPr>
          <a:xfrm>
            <a:off x="1440263" y="1388962"/>
            <a:ext cx="5678167" cy="3691789"/>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56"/>
          <p:cNvSpPr txBox="1"/>
          <p:nvPr/>
        </p:nvSpPr>
        <p:spPr>
          <a:xfrm>
            <a:off x="954628" y="1407936"/>
            <a:ext cx="7650865" cy="76944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s-MX" sz="4400" b="1" i="0" u="none" strike="noStrike" cap="none">
                <a:solidFill>
                  <a:srgbClr val="3F3F3F"/>
                </a:solidFill>
                <a:latin typeface="Calibri"/>
                <a:ea typeface="Calibri"/>
                <a:cs typeface="Calibri"/>
                <a:sym typeface="Calibri"/>
              </a:rPr>
              <a:t>ACTIVIDAD</a:t>
            </a:r>
            <a:endParaRPr/>
          </a:p>
        </p:txBody>
      </p:sp>
      <p:sp>
        <p:nvSpPr>
          <p:cNvPr id="349" name="Google Shape;349;p56"/>
          <p:cNvSpPr/>
          <p:nvPr/>
        </p:nvSpPr>
        <p:spPr>
          <a:xfrm>
            <a:off x="5590572" y="2194080"/>
            <a:ext cx="2922324" cy="45719"/>
          </a:xfrm>
          <a:prstGeom prst="rect">
            <a:avLst/>
          </a:prstGeom>
          <a:solidFill>
            <a:srgbClr val="FF66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50" name="Google Shape;350;p56" descr="Qué es Actividad Cognoscitiva? » Su Definición y Significado [2020]"/>
          <p:cNvPicPr preferRelativeResize="0"/>
          <p:nvPr/>
        </p:nvPicPr>
        <p:blipFill rotWithShape="1">
          <a:blip r:embed="rId3">
            <a:alphaModFix/>
          </a:blip>
          <a:srcRect/>
          <a:stretch/>
        </p:blipFill>
        <p:spPr>
          <a:xfrm>
            <a:off x="5087797" y="2571750"/>
            <a:ext cx="2857500" cy="16002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57"/>
          <p:cNvSpPr txBox="1"/>
          <p:nvPr/>
        </p:nvSpPr>
        <p:spPr>
          <a:xfrm>
            <a:off x="723496" y="1094045"/>
            <a:ext cx="7697008" cy="1703030"/>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000000"/>
              </a:buClr>
              <a:buSzPts val="1800"/>
              <a:buFont typeface="Arial"/>
              <a:buAutoNum type="arabicPeriod"/>
            </a:pPr>
            <a:r>
              <a:rPr lang="es-MX" sz="1800" b="0" i="0" u="none" strike="noStrike" cap="none">
                <a:solidFill>
                  <a:srgbClr val="000000"/>
                </a:solidFill>
                <a:latin typeface="Arial"/>
                <a:ea typeface="Arial"/>
                <a:cs typeface="Arial"/>
                <a:sym typeface="Arial"/>
              </a:rPr>
              <a:t>Documento con portada, PEI, formación por proyectos y estilos de aprendizaje.</a:t>
            </a:r>
            <a:endParaRPr/>
          </a:p>
          <a:p>
            <a:pPr marL="342900" marR="0" lvl="0" indent="-342900" algn="just" rtl="0">
              <a:lnSpc>
                <a:spcPct val="150000"/>
              </a:lnSpc>
              <a:spcBef>
                <a:spcPts val="0"/>
              </a:spcBef>
              <a:spcAft>
                <a:spcPts val="0"/>
              </a:spcAft>
              <a:buClr>
                <a:srgbClr val="000000"/>
              </a:buClr>
              <a:buSzPts val="1800"/>
              <a:buFont typeface="Arial"/>
              <a:buAutoNum type="arabicPeriod"/>
            </a:pPr>
            <a:r>
              <a:rPr lang="es-MX" sz="1800" b="0" i="0" u="none" strike="noStrike" cap="none">
                <a:solidFill>
                  <a:srgbClr val="000000"/>
                </a:solidFill>
                <a:latin typeface="Arial"/>
                <a:ea typeface="Arial"/>
                <a:cs typeface="Arial"/>
                <a:sym typeface="Arial"/>
              </a:rPr>
              <a:t> </a:t>
            </a:r>
            <a:endParaRPr sz="1800" b="0" i="0" u="none" strike="noStrike" cap="none">
              <a:solidFill>
                <a:srgbClr val="000000"/>
              </a:solidFill>
              <a:latin typeface="Arial"/>
              <a:ea typeface="Arial"/>
              <a:cs typeface="Arial"/>
              <a:sym typeface="Arial"/>
            </a:endParaRPr>
          </a:p>
          <a:p>
            <a:pPr marL="342900" marR="0" lvl="0" indent="-228600" algn="just" rtl="0">
              <a:lnSpc>
                <a:spcPct val="15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graphicFrame>
        <p:nvGraphicFramePr>
          <p:cNvPr id="356" name="Google Shape;356;p57"/>
          <p:cNvGraphicFramePr/>
          <p:nvPr/>
        </p:nvGraphicFramePr>
        <p:xfrm>
          <a:off x="1514474" y="2270506"/>
          <a:ext cx="6598200" cy="2035650"/>
        </p:xfrm>
        <a:graphic>
          <a:graphicData uri="http://schemas.openxmlformats.org/drawingml/2006/table">
            <a:tbl>
              <a:tblPr firstRow="1" firstCol="1" bandRow="1">
                <a:noFill/>
                <a:tableStyleId>{95492DD9-358A-4E20-8A53-7994A84F1370}</a:tableStyleId>
              </a:tblPr>
              <a:tblGrid>
                <a:gridCol w="2199400">
                  <a:extLst>
                    <a:ext uri="{9D8B030D-6E8A-4147-A177-3AD203B41FA5}">
                      <a16:colId xmlns:a16="http://schemas.microsoft.com/office/drawing/2014/main" val="20000"/>
                    </a:ext>
                  </a:extLst>
                </a:gridCol>
                <a:gridCol w="2199400">
                  <a:extLst>
                    <a:ext uri="{9D8B030D-6E8A-4147-A177-3AD203B41FA5}">
                      <a16:colId xmlns:a16="http://schemas.microsoft.com/office/drawing/2014/main" val="20001"/>
                    </a:ext>
                  </a:extLst>
                </a:gridCol>
                <a:gridCol w="2199400">
                  <a:extLst>
                    <a:ext uri="{9D8B030D-6E8A-4147-A177-3AD203B41FA5}">
                      <a16:colId xmlns:a16="http://schemas.microsoft.com/office/drawing/2014/main" val="20002"/>
                    </a:ext>
                  </a:extLst>
                </a:gridCol>
              </a:tblGrid>
              <a:tr h="550800">
                <a:tc>
                  <a:txBody>
                    <a:bodyPr/>
                    <a:lstStyle/>
                    <a:p>
                      <a:pPr marL="0" marR="0" lvl="0" indent="0" algn="ctr" rtl="0">
                        <a:lnSpc>
                          <a:spcPct val="115000"/>
                        </a:lnSpc>
                        <a:spcBef>
                          <a:spcPts val="0"/>
                        </a:spcBef>
                        <a:spcAft>
                          <a:spcPts val="0"/>
                        </a:spcAft>
                        <a:buNone/>
                      </a:pPr>
                      <a:r>
                        <a:rPr lang="es-MX" sz="1000" u="none" strike="noStrike" cap="none"/>
                        <a:t>Tipo de estilo de aprendizaje (Resultado)</a:t>
                      </a:r>
                      <a:endParaRPr sz="1100" u="none" strike="noStrike" cap="none">
                        <a:latin typeface="Calibri"/>
                        <a:ea typeface="Calibri"/>
                        <a:cs typeface="Calibri"/>
                        <a:sym typeface="Calibri"/>
                      </a:endParaRPr>
                    </a:p>
                  </a:txBody>
                  <a:tcPr marL="68575" marR="68575" marT="0" marB="0" anchor="ctr"/>
                </a:tc>
                <a:tc gridSpan="2">
                  <a:txBody>
                    <a:bodyPr/>
                    <a:lstStyle/>
                    <a:p>
                      <a:pPr marL="0" marR="0" lvl="0" indent="0" algn="just" rtl="0">
                        <a:lnSpc>
                          <a:spcPct val="115000"/>
                        </a:lnSpc>
                        <a:spcBef>
                          <a:spcPts val="0"/>
                        </a:spcBef>
                        <a:spcAft>
                          <a:spcPts val="0"/>
                        </a:spcAft>
                        <a:buNone/>
                      </a:pPr>
                      <a:r>
                        <a:rPr lang="es-MX" sz="1000" u="none" strike="noStrike" cap="none"/>
                        <a:t> </a:t>
                      </a:r>
                      <a:endParaRPr sz="1100" u="none" strike="noStrike" cap="none">
                        <a:latin typeface="Calibri"/>
                        <a:ea typeface="Calibri"/>
                        <a:cs typeface="Calibri"/>
                        <a:sym typeface="Calibri"/>
                      </a:endParaRPr>
                    </a:p>
                  </a:txBody>
                  <a:tcPr marL="68575" marR="68575" marT="0" marB="0"/>
                </a:tc>
                <a:tc hMerge="1">
                  <a:txBody>
                    <a:bodyPr/>
                    <a:lstStyle/>
                    <a:p>
                      <a:endParaRPr lang="es-CO"/>
                    </a:p>
                  </a:txBody>
                  <a:tcPr/>
                </a:tc>
                <a:extLst>
                  <a:ext uri="{0D108BD9-81ED-4DB2-BD59-A6C34878D82A}">
                    <a16:rowId xmlns:a16="http://schemas.microsoft.com/office/drawing/2014/main" val="10000"/>
                  </a:ext>
                </a:extLst>
              </a:tr>
              <a:tr h="267075">
                <a:tc>
                  <a:txBody>
                    <a:bodyPr/>
                    <a:lstStyle/>
                    <a:p>
                      <a:pPr marL="0" marR="0" lvl="0" indent="0" algn="ctr" rtl="0">
                        <a:lnSpc>
                          <a:spcPct val="115000"/>
                        </a:lnSpc>
                        <a:spcBef>
                          <a:spcPts val="0"/>
                        </a:spcBef>
                        <a:spcAft>
                          <a:spcPts val="0"/>
                        </a:spcAft>
                        <a:buNone/>
                      </a:pPr>
                      <a:r>
                        <a:rPr lang="es-MX" sz="1000" u="none" strike="noStrike" cap="none"/>
                        <a:t>Nombre del aprendiz</a:t>
                      </a:r>
                      <a:endParaRPr sz="1100" u="none" strike="noStrike" cap="none">
                        <a:latin typeface="Calibri"/>
                        <a:ea typeface="Calibri"/>
                        <a:cs typeface="Calibri"/>
                        <a:sym typeface="Calibri"/>
                      </a:endParaRPr>
                    </a:p>
                  </a:txBody>
                  <a:tcPr marL="68575" marR="68575" marT="0" marB="0" anchor="ctr"/>
                </a:tc>
                <a:tc gridSpan="2">
                  <a:txBody>
                    <a:bodyPr/>
                    <a:lstStyle/>
                    <a:p>
                      <a:pPr marL="0" marR="0" lvl="0" indent="0" algn="just" rtl="0">
                        <a:lnSpc>
                          <a:spcPct val="115000"/>
                        </a:lnSpc>
                        <a:spcBef>
                          <a:spcPts val="0"/>
                        </a:spcBef>
                        <a:spcAft>
                          <a:spcPts val="0"/>
                        </a:spcAft>
                        <a:buNone/>
                      </a:pPr>
                      <a:r>
                        <a:rPr lang="es-MX" sz="1000" u="none" strike="noStrike" cap="none"/>
                        <a:t> </a:t>
                      </a:r>
                      <a:endParaRPr sz="1100" u="none" strike="noStrike" cap="none">
                        <a:latin typeface="Calibri"/>
                        <a:ea typeface="Calibri"/>
                        <a:cs typeface="Calibri"/>
                        <a:sym typeface="Calibri"/>
                      </a:endParaRPr>
                    </a:p>
                  </a:txBody>
                  <a:tcPr marL="68575" marR="68575" marT="0" marB="0"/>
                </a:tc>
                <a:tc hMerge="1">
                  <a:txBody>
                    <a:bodyPr/>
                    <a:lstStyle/>
                    <a:p>
                      <a:endParaRPr lang="es-CO"/>
                    </a:p>
                  </a:txBody>
                  <a:tcPr/>
                </a:tc>
                <a:extLst>
                  <a:ext uri="{0D108BD9-81ED-4DB2-BD59-A6C34878D82A}">
                    <a16:rowId xmlns:a16="http://schemas.microsoft.com/office/drawing/2014/main" val="10001"/>
                  </a:ext>
                </a:extLst>
              </a:tr>
              <a:tr h="267075">
                <a:tc rowSpan="2">
                  <a:txBody>
                    <a:bodyPr/>
                    <a:lstStyle/>
                    <a:p>
                      <a:pPr marL="0" marR="0" lvl="0" indent="0" algn="ctr" rtl="0">
                        <a:lnSpc>
                          <a:spcPct val="115000"/>
                        </a:lnSpc>
                        <a:spcBef>
                          <a:spcPts val="0"/>
                        </a:spcBef>
                        <a:spcAft>
                          <a:spcPts val="0"/>
                        </a:spcAft>
                        <a:buNone/>
                      </a:pPr>
                      <a:r>
                        <a:rPr lang="es-MX" sz="1000" u="none" strike="noStrike" cap="none"/>
                        <a:t>Aspecto</a:t>
                      </a:r>
                      <a:endParaRPr sz="1100" u="none" strike="noStrike" cap="none">
                        <a:latin typeface="Calibri"/>
                        <a:ea typeface="Calibri"/>
                        <a:cs typeface="Calibri"/>
                        <a:sym typeface="Calibri"/>
                      </a:endParaRPr>
                    </a:p>
                  </a:txBody>
                  <a:tcPr marL="68575" marR="68575" marT="0" marB="0" anchor="ctr"/>
                </a:tc>
                <a:tc>
                  <a:txBody>
                    <a:bodyPr/>
                    <a:lstStyle/>
                    <a:p>
                      <a:pPr marL="0" marR="0" lvl="0" indent="0" algn="ctr" rtl="0">
                        <a:lnSpc>
                          <a:spcPct val="115000"/>
                        </a:lnSpc>
                        <a:spcBef>
                          <a:spcPts val="0"/>
                        </a:spcBef>
                        <a:spcAft>
                          <a:spcPts val="0"/>
                        </a:spcAft>
                        <a:buNone/>
                      </a:pPr>
                      <a:r>
                        <a:rPr lang="es-MX" sz="1000" u="none" strike="noStrike" cap="none"/>
                        <a:t>Destacado</a:t>
                      </a:r>
                      <a:endParaRPr sz="1100" u="none" strike="noStrike" cap="none">
                        <a:latin typeface="Calibri"/>
                        <a:ea typeface="Calibri"/>
                        <a:cs typeface="Calibri"/>
                        <a:sym typeface="Calibri"/>
                      </a:endParaRPr>
                    </a:p>
                  </a:txBody>
                  <a:tcPr marL="68575" marR="68575" marT="0" marB="0"/>
                </a:tc>
                <a:tc>
                  <a:txBody>
                    <a:bodyPr/>
                    <a:lstStyle/>
                    <a:p>
                      <a:pPr marL="0" marR="0" lvl="0" indent="0" algn="ctr" rtl="0">
                        <a:lnSpc>
                          <a:spcPct val="115000"/>
                        </a:lnSpc>
                        <a:spcBef>
                          <a:spcPts val="0"/>
                        </a:spcBef>
                        <a:spcAft>
                          <a:spcPts val="0"/>
                        </a:spcAft>
                        <a:buNone/>
                      </a:pPr>
                      <a:r>
                        <a:rPr lang="es-MX" sz="1000" u="none" strike="noStrike" cap="none"/>
                        <a:t>Por mejorar</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2"/>
                  </a:ext>
                </a:extLst>
              </a:tr>
              <a:tr h="683625">
                <a:tc vMerge="1">
                  <a:txBody>
                    <a:bodyPr/>
                    <a:lstStyle/>
                    <a:p>
                      <a:endParaRPr lang="es-CO"/>
                    </a:p>
                  </a:txBody>
                  <a:tcPr/>
                </a:tc>
                <a:tc>
                  <a:txBody>
                    <a:bodyPr/>
                    <a:lstStyle/>
                    <a:p>
                      <a:pPr marL="0" marR="0" lvl="0" indent="0" algn="just" rtl="0">
                        <a:lnSpc>
                          <a:spcPct val="115000"/>
                        </a:lnSpc>
                        <a:spcBef>
                          <a:spcPts val="0"/>
                        </a:spcBef>
                        <a:spcAft>
                          <a:spcPts val="0"/>
                        </a:spcAft>
                        <a:buNone/>
                      </a:pPr>
                      <a:r>
                        <a:rPr lang="es-MX" sz="1000" u="none" strike="noStrike" cap="none"/>
                        <a:t> </a:t>
                      </a:r>
                      <a:endParaRPr sz="1100" u="none" strike="noStrike" cap="none">
                        <a:latin typeface="Calibri"/>
                        <a:ea typeface="Calibri"/>
                        <a:cs typeface="Calibri"/>
                        <a:sym typeface="Calibri"/>
                      </a:endParaRPr>
                    </a:p>
                  </a:txBody>
                  <a:tcPr marL="68575" marR="68575" marT="0" marB="0"/>
                </a:tc>
                <a:tc>
                  <a:txBody>
                    <a:bodyPr/>
                    <a:lstStyle/>
                    <a:p>
                      <a:pPr marL="0" marR="0" lvl="0" indent="0" algn="just" rtl="0">
                        <a:lnSpc>
                          <a:spcPct val="115000"/>
                        </a:lnSpc>
                        <a:spcBef>
                          <a:spcPts val="0"/>
                        </a:spcBef>
                        <a:spcAft>
                          <a:spcPts val="0"/>
                        </a:spcAft>
                        <a:buNone/>
                      </a:pPr>
                      <a:r>
                        <a:rPr lang="es-MX" sz="1000" u="none" strike="noStrike" cap="none"/>
                        <a:t> </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3"/>
                  </a:ext>
                </a:extLst>
              </a:tr>
              <a:tr h="267075">
                <a:tc>
                  <a:txBody>
                    <a:bodyPr/>
                    <a:lstStyle/>
                    <a:p>
                      <a:pPr marL="0" marR="0" lvl="0" indent="0" algn="ctr" rtl="0">
                        <a:lnSpc>
                          <a:spcPct val="115000"/>
                        </a:lnSpc>
                        <a:spcBef>
                          <a:spcPts val="0"/>
                        </a:spcBef>
                        <a:spcAft>
                          <a:spcPts val="0"/>
                        </a:spcAft>
                        <a:buNone/>
                      </a:pPr>
                      <a:r>
                        <a:rPr lang="es-MX" sz="1000" u="none" strike="noStrike" cap="none"/>
                        <a:t>Conclusión</a:t>
                      </a:r>
                      <a:endParaRPr sz="1100" u="none" strike="noStrike" cap="none">
                        <a:latin typeface="Calibri"/>
                        <a:ea typeface="Calibri"/>
                        <a:cs typeface="Calibri"/>
                        <a:sym typeface="Calibri"/>
                      </a:endParaRPr>
                    </a:p>
                  </a:txBody>
                  <a:tcPr marL="68575" marR="68575" marT="0" marB="0" anchor="ctr"/>
                </a:tc>
                <a:tc>
                  <a:txBody>
                    <a:bodyPr/>
                    <a:lstStyle/>
                    <a:p>
                      <a:pPr marL="0" marR="0" lvl="0" indent="0" algn="just" rtl="0">
                        <a:lnSpc>
                          <a:spcPct val="115000"/>
                        </a:lnSpc>
                        <a:spcBef>
                          <a:spcPts val="0"/>
                        </a:spcBef>
                        <a:spcAft>
                          <a:spcPts val="0"/>
                        </a:spcAft>
                        <a:buNone/>
                      </a:pPr>
                      <a:r>
                        <a:rPr lang="es-MX" sz="1000" u="none" strike="noStrike" cap="none"/>
                        <a:t> </a:t>
                      </a:r>
                      <a:endParaRPr sz="1100" u="none" strike="noStrike" cap="none">
                        <a:latin typeface="Calibri"/>
                        <a:ea typeface="Calibri"/>
                        <a:cs typeface="Calibri"/>
                        <a:sym typeface="Calibri"/>
                      </a:endParaRPr>
                    </a:p>
                  </a:txBody>
                  <a:tcPr marL="68575" marR="68575" marT="0" marB="0"/>
                </a:tc>
                <a:tc>
                  <a:txBody>
                    <a:bodyPr/>
                    <a:lstStyle/>
                    <a:p>
                      <a:pPr marL="0" marR="0" lvl="0" indent="0" algn="just" rtl="0">
                        <a:lnSpc>
                          <a:spcPct val="115000"/>
                        </a:lnSpc>
                        <a:spcBef>
                          <a:spcPts val="0"/>
                        </a:spcBef>
                        <a:spcAft>
                          <a:spcPts val="0"/>
                        </a:spcAft>
                        <a:buNone/>
                      </a:pPr>
                      <a:r>
                        <a:rPr lang="es-MX" sz="1000" u="none" strike="noStrike" cap="none"/>
                        <a:t> </a:t>
                      </a:r>
                      <a:endParaRPr sz="11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4"/>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58"/>
          <p:cNvSpPr txBox="1"/>
          <p:nvPr/>
        </p:nvSpPr>
        <p:spPr>
          <a:xfrm>
            <a:off x="954628" y="1407936"/>
            <a:ext cx="7650865" cy="76944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s-MX" sz="4400" b="1" i="0" u="none" strike="noStrike" cap="none">
                <a:solidFill>
                  <a:srgbClr val="3F3F3F"/>
                </a:solidFill>
                <a:latin typeface="Calibri"/>
                <a:ea typeface="Calibri"/>
                <a:cs typeface="Calibri"/>
                <a:sym typeface="Calibri"/>
              </a:rPr>
              <a:t>BIBLIOGRAFIA</a:t>
            </a:r>
            <a:endParaRPr/>
          </a:p>
        </p:txBody>
      </p:sp>
      <p:sp>
        <p:nvSpPr>
          <p:cNvPr id="362" name="Google Shape;362;p58"/>
          <p:cNvSpPr/>
          <p:nvPr/>
        </p:nvSpPr>
        <p:spPr>
          <a:xfrm>
            <a:off x="5590572" y="2194080"/>
            <a:ext cx="2922324" cy="45719"/>
          </a:xfrm>
          <a:prstGeom prst="rect">
            <a:avLst/>
          </a:prstGeom>
          <a:solidFill>
            <a:srgbClr val="FF66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63" name="Google Shape;363;p58" descr="Bibliografía - Concepto, elementos, características y estilos"/>
          <p:cNvPicPr preferRelativeResize="0"/>
          <p:nvPr/>
        </p:nvPicPr>
        <p:blipFill rotWithShape="1">
          <a:blip r:embed="rId3">
            <a:alphaModFix/>
          </a:blip>
          <a:srcRect/>
          <a:stretch/>
        </p:blipFill>
        <p:spPr>
          <a:xfrm>
            <a:off x="4572000" y="2571750"/>
            <a:ext cx="3028950" cy="151447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59"/>
          <p:cNvSpPr txBox="1"/>
          <p:nvPr/>
        </p:nvSpPr>
        <p:spPr>
          <a:xfrm>
            <a:off x="370547" y="0"/>
            <a:ext cx="7951650" cy="517064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Acuerdo 00016. Por el cual se regula el programa de Investigación, Desarrollo Tecnológico e Innovación y se subrogan los Acuerdos 007 de 2006 y 004 de 2008. Bogotá, 27 de noviembre de 2012. </a:t>
            </a:r>
            <a:endParaRPr/>
          </a:p>
          <a:p>
            <a:pPr marL="0" marR="0" lvl="0" indent="0" algn="just" rtl="0">
              <a:spcBef>
                <a:spcPts val="0"/>
              </a:spcBef>
              <a:spcAft>
                <a:spcPts val="0"/>
              </a:spcAft>
              <a:buNone/>
            </a:pPr>
            <a:endParaRPr sz="22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Acuerdo No. 00007. Por el cual se adopta el reglamento del aprendiz SENA. Bogotá, 30 de abril de 2012. </a:t>
            </a:r>
            <a:endParaRPr/>
          </a:p>
          <a:p>
            <a:pPr marL="0" marR="0" lvl="0" indent="0" algn="just" rtl="0">
              <a:spcBef>
                <a:spcPts val="0"/>
              </a:spcBef>
              <a:spcAft>
                <a:spcPts val="0"/>
              </a:spcAft>
              <a:buNone/>
            </a:pPr>
            <a:endParaRPr sz="22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Circular No. 3-2013-000006. Planeación de la oferta de ingreso II convocatoria regular 2013. Bogotá, 5 de febrero de 2013.</a:t>
            </a:r>
            <a:endParaRPr/>
          </a:p>
          <a:p>
            <a:pPr marL="0" marR="0" lvl="0" indent="0" algn="just" rtl="0">
              <a:spcBef>
                <a:spcPts val="0"/>
              </a:spcBef>
              <a:spcAft>
                <a:spcPts val="0"/>
              </a:spcAft>
              <a:buNone/>
            </a:pPr>
            <a:endParaRPr sz="2200" b="0" i="0" u="none" strike="noStrike" cap="none">
              <a:solidFill>
                <a:srgbClr val="3F3F3F"/>
              </a:solidFill>
              <a:latin typeface="Calibri"/>
              <a:ea typeface="Calibri"/>
              <a:cs typeface="Calibri"/>
              <a:sym typeface="Calibri"/>
            </a:endParaRPr>
          </a:p>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Circular No. 3-2012-000062. Evaluación del desempeño laboral. Bogotá, 14 de febrero de 2012. </a:t>
            </a:r>
            <a:endParaRPr/>
          </a:p>
          <a:p>
            <a:pPr marL="0" marR="0" lvl="0" indent="0" algn="just" rtl="0">
              <a:spcBef>
                <a:spcPts val="0"/>
              </a:spcBef>
              <a:spcAft>
                <a:spcPts val="0"/>
              </a:spcAft>
              <a:buNone/>
            </a:pPr>
            <a:r>
              <a:rPr lang="es-MX" sz="2200" b="0" i="0" u="none" strike="noStrike" cap="none">
                <a:solidFill>
                  <a:srgbClr val="3F3F3F"/>
                </a:solidFill>
                <a:latin typeface="Calibri"/>
                <a:ea typeface="Calibri"/>
                <a:cs typeface="Calibri"/>
                <a:sym typeface="Calibri"/>
              </a:rPr>
              <a:t>Decreto 249. Por el cual se modifica la estructura del Servicio Nacional de Aprendizaje, SENA. Diario Oficial 45.445. Bogotá, 28 de enero de 2004. </a:t>
            </a:r>
            <a:endParaRPr sz="2200" b="0" i="0" u="none" strike="noStrike" cap="none">
              <a:solidFill>
                <a:srgbClr val="3F3F3F"/>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2823</TotalTime>
  <Words>3820</Words>
  <Application>Microsoft Office PowerPoint</Application>
  <PresentationFormat>Presentación en pantalla (16:9)</PresentationFormat>
  <Paragraphs>218</Paragraphs>
  <Slides>59</Slides>
  <Notes>59</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59</vt:i4>
      </vt:variant>
    </vt:vector>
  </HeadingPairs>
  <TitlesOfParts>
    <vt:vector size="62" baseType="lpstr">
      <vt:lpstr>Arial</vt:lpstr>
      <vt:lpstr>Calibri</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Leonardo Cantor</dc:creator>
  <cp:lastModifiedBy>HP</cp:lastModifiedBy>
  <cp:revision>4</cp:revision>
  <dcterms:created xsi:type="dcterms:W3CDTF">2019-11-27T03:16:21Z</dcterms:created>
  <dcterms:modified xsi:type="dcterms:W3CDTF">2024-11-07T14:16:40Z</dcterms:modified>
</cp:coreProperties>
</file>